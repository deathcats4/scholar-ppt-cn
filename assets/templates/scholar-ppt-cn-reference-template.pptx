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3"/>
  </p:sldMasterIdLst>
  <p:notesMasterIdLst>
    <p:notesMasterId r:id="rId5"/>
  </p:notesMasterIdLst>
  <p:sldIdLst>
    <p:sldId id="3888" r:id="rId4"/>
    <p:sldId id="10477" r:id="rId6"/>
    <p:sldId id="10271" r:id="rId7"/>
    <p:sldId id="10514" r:id="rId8"/>
    <p:sldId id="10515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6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FF077E-F0D0-4C93-A778-6E175A02983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8A00DF-5A0F-487D-9C71-D02ABE40241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下面我代表团队从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个方面进行汇报。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zh-CN" altLang="en-US" sz="1600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52EA3-73EC-4C9A-84E9-CAB31E278D9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B30C2-180C-4AA1-8A9A-C62BC2A256C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4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 userDrawn="1"/>
        </p:nvGrpSpPr>
        <p:grpSpPr>
          <a:xfrm>
            <a:off x="0" y="0"/>
            <a:ext cx="12192000" cy="714375"/>
            <a:chOff x="0" y="0"/>
            <a:chExt cx="12192000" cy="765175"/>
          </a:xfrm>
        </p:grpSpPr>
        <p:sp>
          <p:nvSpPr>
            <p:cNvPr id="4" name="矩形 3"/>
            <p:cNvSpPr/>
            <p:nvPr/>
          </p:nvSpPr>
          <p:spPr>
            <a:xfrm>
              <a:off x="0" y="0"/>
              <a:ext cx="12192000" cy="765175"/>
            </a:xfrm>
            <a:prstGeom prst="rect">
              <a:avLst/>
            </a:prstGeom>
            <a:gradFill>
              <a:gsLst>
                <a:gs pos="4100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0" y="765175"/>
              <a:ext cx="12192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</p:sldLayoutIdLst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.xml"/><Relationship Id="rId8" Type="http://schemas.openxmlformats.org/officeDocument/2006/relationships/tags" Target="../tags/tag13.xml"/><Relationship Id="rId7" Type="http://schemas.openxmlformats.org/officeDocument/2006/relationships/tags" Target="../tags/tag12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0" Type="http://schemas.openxmlformats.org/officeDocument/2006/relationships/notesSlide" Target="../notesSlides/notesSlide2.xml"/><Relationship Id="rId1" Type="http://schemas.openxmlformats.org/officeDocument/2006/relationships/tags" Target="../tags/tag6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tags" Target="../tags/tag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5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tags" Target="../tags/tag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组合 84"/>
          <p:cNvGrpSpPr/>
          <p:nvPr/>
        </p:nvGrpSpPr>
        <p:grpSpPr>
          <a:xfrm>
            <a:off x="-44974" y="0"/>
            <a:ext cx="12281948" cy="6858000"/>
            <a:chOff x="-10572" y="0"/>
            <a:chExt cx="12281948" cy="6858000"/>
          </a:xfrm>
        </p:grpSpPr>
        <p:grpSp>
          <p:nvGrpSpPr>
            <p:cNvPr id="3" name="组合 2"/>
            <p:cNvGrpSpPr/>
            <p:nvPr/>
          </p:nvGrpSpPr>
          <p:grpSpPr>
            <a:xfrm>
              <a:off x="0" y="5329"/>
              <a:ext cx="12204687" cy="6852671"/>
              <a:chOff x="0" y="5329"/>
              <a:chExt cx="12204687" cy="6852671"/>
            </a:xfrm>
          </p:grpSpPr>
          <p:grpSp>
            <p:nvGrpSpPr>
              <p:cNvPr id="88" name="组合 55"/>
              <p:cNvGrpSpPr/>
              <p:nvPr/>
            </p:nvGrpSpPr>
            <p:grpSpPr bwMode="auto">
              <a:xfrm>
                <a:off x="12688" y="5329"/>
                <a:ext cx="12191999" cy="4869160"/>
                <a:chOff x="-635" y="0"/>
                <a:chExt cx="9154161" cy="6858000"/>
              </a:xfrm>
            </p:grpSpPr>
            <p:grpSp>
              <p:nvGrpSpPr>
                <p:cNvPr id="89" name="组合 56"/>
                <p:cNvGrpSpPr/>
                <p:nvPr/>
              </p:nvGrpSpPr>
              <p:grpSpPr bwMode="auto">
                <a:xfrm>
                  <a:off x="-635" y="0"/>
                  <a:ext cx="9144635" cy="6858000"/>
                  <a:chOff x="-635" y="0"/>
                  <a:chExt cx="9144635" cy="6858000"/>
                </a:xfrm>
              </p:grpSpPr>
              <p:pic>
                <p:nvPicPr>
                  <p:cNvPr id="94" name="图片 61"/>
                  <p:cNvPicPr>
                    <a:picLocks noChangeAspect="1" noChangeArrowheads="1"/>
                  </p:cNvPicPr>
                  <p:nvPr/>
                </p:nvPicPr>
                <p:blipFill>
                  <a:blip r:embed="rId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11284" b="22884"/>
                  <a:stretch>
                    <a:fillRect/>
                  </a:stretch>
                </p:blipFill>
                <p:spPr bwMode="auto">
                  <a:xfrm>
                    <a:off x="0" y="3457852"/>
                    <a:ext cx="9144000" cy="340014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95" name="矩形 94"/>
                  <p:cNvSpPr/>
                  <p:nvPr/>
                </p:nvSpPr>
                <p:spPr>
                  <a:xfrm>
                    <a:off x="-635" y="0"/>
                    <a:ext cx="9144635" cy="6858000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bg1"/>
                      </a:gs>
                      <a:gs pos="51700">
                        <a:srgbClr val="FFFFFF"/>
                      </a:gs>
                      <a:gs pos="100000">
                        <a:schemeClr val="bg1">
                          <a:alpha val="88000"/>
                        </a:schemeClr>
                      </a:gs>
                    </a:gsLst>
                    <a:lin ang="5400000" scaled="1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endParaRPr kumimoji="0" lang="zh-CN" altLang="en-US" sz="1800" b="0" i="0" u="none" strike="noStrike" kern="1200" cap="none" spc="0" normalizeH="0" baseline="0" noProof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微软雅黑" panose="020B0503020204020204" pitchFamily="34" charset="-122"/>
                      <a:cs typeface="+mn-cs"/>
                      <a:sym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90" name="组合 57"/>
                <p:cNvGrpSpPr/>
                <p:nvPr/>
              </p:nvGrpSpPr>
              <p:grpSpPr bwMode="auto">
                <a:xfrm>
                  <a:off x="-635" y="0"/>
                  <a:ext cx="9154161" cy="5145088"/>
                  <a:chOff x="-635" y="0"/>
                  <a:chExt cx="9154161" cy="5145088"/>
                </a:xfrm>
              </p:grpSpPr>
              <p:sp>
                <p:nvSpPr>
                  <p:cNvPr id="92" name="矩形 91"/>
                  <p:cNvSpPr/>
                  <p:nvPr/>
                </p:nvSpPr>
                <p:spPr>
                  <a:xfrm>
                    <a:off x="-635" y="0"/>
                    <a:ext cx="9146223" cy="5145088"/>
                  </a:xfrm>
                  <a:prstGeom prst="rect">
                    <a:avLst/>
                  </a:prstGeom>
                  <a:gradFill flip="none" rotWithShape="1">
                    <a:gsLst>
                      <a:gs pos="12000">
                        <a:srgbClr val="1D5EA7"/>
                      </a:gs>
                      <a:gs pos="61000">
                        <a:srgbClr val="1D5EA7">
                          <a:alpha val="0"/>
                        </a:srgbClr>
                      </a:gs>
                    </a:gsLst>
                    <a:lin ang="5400000" scaled="1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endParaRPr kumimoji="0" lang="zh-CN" altLang="en-US" sz="1800" b="0" i="0" u="none" strike="noStrike" kern="1200" cap="none" spc="0" normalizeH="0" baseline="0" noProof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微软雅黑" panose="020B0503020204020204" pitchFamily="34" charset="-122"/>
                      <a:cs typeface="+mn-cs"/>
                      <a:sym typeface="Arial" panose="020B0604020202020204" pitchFamily="34" charset="0"/>
                    </a:endParaRPr>
                  </a:p>
                </p:txBody>
              </p:sp>
              <p:sp>
                <p:nvSpPr>
                  <p:cNvPr id="93" name="矩形 92"/>
                  <p:cNvSpPr/>
                  <p:nvPr/>
                </p:nvSpPr>
                <p:spPr>
                  <a:xfrm>
                    <a:off x="-635" y="0"/>
                    <a:ext cx="9154161" cy="3457575"/>
                  </a:xfrm>
                  <a:prstGeom prst="rect">
                    <a:avLst/>
                  </a:prstGeom>
                  <a:gradFill>
                    <a:gsLst>
                      <a:gs pos="43000">
                        <a:srgbClr val="FCFDFE">
                          <a:alpha val="80000"/>
                        </a:srgbClr>
                      </a:gs>
                      <a:gs pos="0">
                        <a:schemeClr val="accent1">
                          <a:lumMod val="5000"/>
                          <a:lumOff val="95000"/>
                          <a:alpha val="51000"/>
                        </a:schemeClr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endParaRPr kumimoji="0" lang="zh-CN" altLang="en-US" sz="1800" b="0" i="0" u="none" strike="noStrike" kern="1200" cap="none" spc="0" normalizeH="0" baseline="0" noProof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微软雅黑" panose="020B0503020204020204" pitchFamily="34" charset="-122"/>
                      <a:cs typeface="+mn-cs"/>
                      <a:sym typeface="Arial" panose="020B0604020202020204" pitchFamily="34" charset="0"/>
                    </a:endParaRPr>
                  </a:p>
                </p:txBody>
              </p:sp>
            </p:grpSp>
          </p:grpSp>
          <p:pic>
            <p:nvPicPr>
              <p:cNvPr id="102" name="Picture 2" descr="C:\Users\Administrator.4HID7VA1ULHJQ66\Desktop\2.jpg"/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36" t="13052" r="36" b="20631"/>
              <a:stretch>
                <a:fillRect/>
              </a:stretch>
            </p:blipFill>
            <p:spPr bwMode="auto">
              <a:xfrm>
                <a:off x="0" y="3444953"/>
                <a:ext cx="12192000" cy="34130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4" name="矩形 3"/>
            <p:cNvSpPr/>
            <p:nvPr/>
          </p:nvSpPr>
          <p:spPr>
            <a:xfrm>
              <a:off x="-10572" y="0"/>
              <a:ext cx="12281948" cy="6858000"/>
            </a:xfrm>
            <a:prstGeom prst="rect">
              <a:avLst/>
            </a:prstGeom>
            <a:gradFill>
              <a:gsLst>
                <a:gs pos="81000">
                  <a:srgbClr val="FFFFFF"/>
                </a:gs>
                <a:gs pos="100000">
                  <a:srgbClr val="FFFFFF">
                    <a:alpha val="0"/>
                  </a:srgbClr>
                </a:gs>
                <a:gs pos="2000">
                  <a:schemeClr val="bg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07" name="Text Box 16"/>
          <p:cNvSpPr txBox="1">
            <a:spLocks noChangeArrowheads="1"/>
          </p:cNvSpPr>
          <p:nvPr/>
        </p:nvSpPr>
        <p:spPr bwMode="auto">
          <a:xfrm>
            <a:off x="936094" y="1374694"/>
            <a:ext cx="10319811" cy="900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489" tIns="34249" rIns="68489" bIns="34249">
            <a:spAutoFit/>
          </a:bodyPr>
          <a:lstStyle>
            <a:defPPr>
              <a:defRPr lang="en-US"/>
            </a:defPPr>
            <a:lvl1pPr marR="0" lvl="0" indent="0">
              <a:spcBef>
                <a:spcPts val="600"/>
              </a:spcBef>
              <a:buClrTx/>
              <a:buSzTx/>
              <a:buFontTx/>
              <a:buNone/>
              <a:defRPr kumimoji="0" sz="3600" b="1" i="0" u="none" strike="noStrike" cap="none" spc="225" normalizeH="0" baseline="0">
                <a:ln w="9525">
                  <a:noFill/>
                  <a:prstDash val="solid"/>
                </a:ln>
                <a:solidFill>
                  <a:srgbClr val="FF0000"/>
                </a:solidFill>
                <a:effectLst>
                  <a:glow rad="190500">
                    <a:prstClr val="white">
                      <a:alpha val="94000"/>
                    </a:prstClr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ea"/>
              </a:defRPr>
            </a:lvl1pPr>
            <a:lvl2pPr marL="742950" indent="-285750"/>
            <a:lvl3pPr marL="1143000" indent="-228600"/>
            <a:lvl4pPr marL="1600200" indent="-228600"/>
            <a:lvl5pPr marL="2057400" indent="-228600"/>
            <a:lvl6pPr marL="2514600" indent="-228600" defTabSz="913130" fontAlgn="base">
              <a:spcBef>
                <a:spcPct val="0"/>
              </a:spcBef>
              <a:spcAft>
                <a:spcPct val="0"/>
              </a:spcAft>
            </a:lvl6pPr>
            <a:lvl7pPr marL="2971800" indent="-228600" defTabSz="913130" fontAlgn="base">
              <a:spcBef>
                <a:spcPct val="0"/>
              </a:spcBef>
              <a:spcAft>
                <a:spcPct val="0"/>
              </a:spcAft>
            </a:lvl7pPr>
            <a:lvl8pPr marL="3429000" indent="-228600" defTabSz="913130" fontAlgn="base">
              <a:spcBef>
                <a:spcPct val="0"/>
              </a:spcBef>
              <a:spcAft>
                <a:spcPct val="0"/>
              </a:spcAft>
            </a:lvl8pPr>
            <a:lvl9pPr marL="3886200" indent="-228600" defTabSz="913130" fontAlgn="base">
              <a:spcBef>
                <a:spcPct val="0"/>
              </a:spcBef>
              <a:spcAft>
                <a:spcPct val="0"/>
              </a:spcAft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993300"/>
                </a:solidFill>
                <a:effectLst>
                  <a:glow rad="88900">
                    <a:prstClr val="white"/>
                  </a:glow>
                </a:effectLst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不明觉厉的标题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rgbClr val="993300"/>
              </a:solidFill>
              <a:effectLst>
                <a:glow rad="88900">
                  <a:prstClr val="white"/>
                </a:glow>
              </a:effectLst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457149" y="3997425"/>
            <a:ext cx="3790861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300" normalizeH="0" baseline="0" noProof="0" dirty="0">
                <a:ln>
                  <a:noFill/>
                </a:ln>
                <a:solidFill>
                  <a:srgbClr val="024C98"/>
                </a:solidFill>
                <a:effectLst>
                  <a:glow rad="127000">
                    <a:prstClr val="white"/>
                  </a:glo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汇报人：阿杜与猫</a:t>
            </a:r>
            <a:endParaRPr kumimoji="0" lang="zh-CN" altLang="en-US" sz="3200" b="1" i="0" u="none" strike="noStrike" kern="1200" cap="none" spc="300" normalizeH="0" baseline="0" noProof="0" dirty="0">
              <a:ln>
                <a:noFill/>
              </a:ln>
              <a:solidFill>
                <a:srgbClr val="024C98"/>
              </a:solidFill>
              <a:effectLst>
                <a:glow rad="127000">
                  <a:prstClr val="white"/>
                </a:glow>
              </a:effectLst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5269230" y="5288915"/>
            <a:ext cx="2239645" cy="3689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>
                  <a:glow rad="63500">
                    <a:prstClr val="white">
                      <a:alpha val="90000"/>
                    </a:prstClr>
                  </a:glow>
                </a:effectLst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  <a:t>2026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>
                  <a:glow rad="63500">
                    <a:prstClr val="white">
                      <a:alpha val="90000"/>
                    </a:prstClr>
                  </a:glow>
                </a:effectLst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  <a:t>年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>
                  <a:glow rad="63500">
                    <a:prstClr val="white">
                      <a:alpha val="90000"/>
                    </a:prstClr>
                  </a:glow>
                </a:effectLst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  <a:t>6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>
                  <a:glow rad="63500">
                    <a:prstClr val="white">
                      <a:alpha val="90000"/>
                    </a:prstClr>
                  </a:glow>
                </a:effectLst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  <a:t>月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24C98"/>
              </a:solidFill>
              <a:effectLst>
                <a:glow rad="63500">
                  <a:prstClr val="white">
                    <a:alpha val="90000"/>
                  </a:prstClr>
                </a:glow>
              </a:effectLst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1" y="-8"/>
            <a:ext cx="11293159" cy="800105"/>
            <a:chOff x="1" y="-8"/>
            <a:chExt cx="11293159" cy="800105"/>
          </a:xfrm>
        </p:grpSpPr>
        <p:sp>
          <p:nvSpPr>
            <p:cNvPr id="5" name="矩形 3"/>
            <p:cNvSpPr>
              <a:spLocks noChangeArrowheads="1"/>
            </p:cNvSpPr>
            <p:nvPr/>
          </p:nvSpPr>
          <p:spPr bwMode="auto">
            <a:xfrm>
              <a:off x="1778000" y="78564"/>
              <a:ext cx="5760720" cy="6463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36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pitchFamily="18" charset="0"/>
                  <a:sym typeface="+mn-ea"/>
                </a:rPr>
                <a:t>汇 报 内 容</a:t>
              </a:r>
              <a:endPara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6" name="任意多边形: 形状 5"/>
            <p:cNvSpPr/>
            <p:nvPr/>
          </p:nvSpPr>
          <p:spPr>
            <a:xfrm flipV="1">
              <a:off x="1" y="-8"/>
              <a:ext cx="10163174" cy="800105"/>
            </a:xfrm>
            <a:custGeom>
              <a:avLst/>
              <a:gdLst>
                <a:gd name="connsiteX0" fmla="*/ 454027 w 12191999"/>
                <a:gd name="connsiteY0" fmla="*/ 908054 h 908054"/>
                <a:gd name="connsiteX1" fmla="*/ 12191999 w 12191999"/>
                <a:gd name="connsiteY1" fmla="*/ 908054 h 908054"/>
                <a:gd name="connsiteX2" fmla="*/ 12191999 w 12191999"/>
                <a:gd name="connsiteY2" fmla="*/ 454027 h 908054"/>
                <a:gd name="connsiteX3" fmla="*/ 11737972 w 12191999"/>
                <a:gd name="connsiteY3" fmla="*/ 0 h 908054"/>
                <a:gd name="connsiteX4" fmla="*/ 0 w 12191999"/>
                <a:gd name="connsiteY4" fmla="*/ 0 h 908054"/>
                <a:gd name="connsiteX5" fmla="*/ 0 w 12191999"/>
                <a:gd name="connsiteY5" fmla="*/ 3174 h 908054"/>
                <a:gd name="connsiteX6" fmla="*/ 0 w 12191999"/>
                <a:gd name="connsiteY6" fmla="*/ 454027 h 908054"/>
                <a:gd name="connsiteX7" fmla="*/ 0 w 12191999"/>
                <a:gd name="connsiteY7" fmla="*/ 908049 h 908054"/>
                <a:gd name="connsiteX8" fmla="*/ 453977 w 12191999"/>
                <a:gd name="connsiteY8" fmla="*/ 908049 h 90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191999" h="908054">
                  <a:moveTo>
                    <a:pt x="454027" y="908054"/>
                  </a:moveTo>
                  <a:lnTo>
                    <a:pt x="12191999" y="908054"/>
                  </a:lnTo>
                  <a:lnTo>
                    <a:pt x="12191999" y="454027"/>
                  </a:lnTo>
                  <a:cubicBezTo>
                    <a:pt x="12191999" y="203275"/>
                    <a:pt x="11988724" y="0"/>
                    <a:pt x="11737972" y="0"/>
                  </a:cubicBezTo>
                  <a:lnTo>
                    <a:pt x="0" y="0"/>
                  </a:lnTo>
                  <a:lnTo>
                    <a:pt x="0" y="3174"/>
                  </a:lnTo>
                  <a:lnTo>
                    <a:pt x="0" y="454027"/>
                  </a:lnTo>
                  <a:lnTo>
                    <a:pt x="0" y="908049"/>
                  </a:lnTo>
                  <a:lnTo>
                    <a:pt x="453977" y="908049"/>
                  </a:lnTo>
                  <a:close/>
                </a:path>
              </a:pathLst>
            </a:custGeom>
            <a:solidFill>
              <a:srgbClr val="EAEAEA"/>
            </a:solidFill>
            <a:ln w="12700" cap="flat" cmpd="sng" algn="ctr">
              <a:noFill/>
              <a:prstDash val="solid"/>
              <a:miter lim="800000"/>
            </a:ln>
            <a:effectLst>
              <a:outerShdw blurRad="127000" dist="38100" dir="2700000" algn="tl" rotWithShape="0">
                <a:schemeClr val="bg1">
                  <a:lumMod val="85000"/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334963" y="153825"/>
              <a:ext cx="1779587" cy="492443"/>
            </a:xfrm>
            <a:prstGeom prst="rect">
              <a:avLst/>
            </a:prstGeom>
            <a:noFill/>
          </p:spPr>
          <p:txBody>
            <a:bodyPr wrap="square" lIns="0" tIns="0" rIns="0" bIns="0" anchor="ctr" anchorCtr="0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3200" b="1" i="0" u="none" strike="noStrike" kern="1200" cap="none" spc="300" normalizeH="0" baseline="0" noProof="0" dirty="0">
                  <a:ln>
                    <a:noFill/>
                  </a:ln>
                  <a:solidFill>
                    <a:srgbClr val="024C98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rPr>
                <a:t>汇报提纲</a:t>
              </a:r>
              <a:endParaRPr kumimoji="0" lang="zh-CN" altLang="en-US" sz="3200" b="1" i="0" u="none" strike="noStrike" kern="1200" cap="none" spc="30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ea"/>
                <a:sym typeface="Arial" panose="020B0604020202020204" pitchFamily="34" charset="0"/>
              </a:endParaRPr>
            </a:p>
          </p:txBody>
        </p:sp>
        <p:cxnSp>
          <p:nvCxnSpPr>
            <p:cNvPr id="11" name="直接连接符 10"/>
            <p:cNvCxnSpPr/>
            <p:nvPr/>
          </p:nvCxnSpPr>
          <p:spPr>
            <a:xfrm>
              <a:off x="2220583" y="412296"/>
              <a:ext cx="7790192" cy="0"/>
            </a:xfrm>
            <a:prstGeom prst="line">
              <a:avLst/>
            </a:prstGeom>
            <a:ln w="19050">
              <a:gradFill>
                <a:gsLst>
                  <a:gs pos="100000">
                    <a:schemeClr val="bg1">
                      <a:alpha val="0"/>
                    </a:schemeClr>
                  </a:gs>
                  <a:gs pos="0">
                    <a:schemeClr val="bg1">
                      <a:lumMod val="75000"/>
                    </a:schemeClr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/>
            <p:cNvCxnSpPr/>
            <p:nvPr/>
          </p:nvCxnSpPr>
          <p:spPr>
            <a:xfrm>
              <a:off x="11293160" y="104295"/>
              <a:ext cx="0" cy="399411"/>
            </a:xfrm>
            <a:prstGeom prst="line">
              <a:avLst/>
            </a:prstGeom>
            <a:ln w="3175">
              <a:solidFill>
                <a:schemeClr val="bg1">
                  <a:lumMod val="9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矩形: 圆角 45"/>
          <p:cNvSpPr/>
          <p:nvPr>
            <p:custDataLst>
              <p:tags r:id="rId1"/>
            </p:custDataLst>
          </p:nvPr>
        </p:nvSpPr>
        <p:spPr>
          <a:xfrm>
            <a:off x="2984499" y="2899527"/>
            <a:ext cx="7026275" cy="658812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/>
              </a:gs>
              <a:gs pos="53000">
                <a:srgbClr val="EAEAEA"/>
              </a:gs>
              <a:gs pos="100000">
                <a:srgbClr val="FFFFFF"/>
              </a:gs>
            </a:gsLst>
            <a:lin ang="5400000" scaled="1"/>
            <a:tileRect/>
          </a:gradFill>
          <a:ln w="6350">
            <a:solidFill>
              <a:srgbClr val="EAEAEA"/>
            </a:solidFill>
            <a:miter lim="800000"/>
          </a:ln>
          <a:effectLst>
            <a:outerShdw blurRad="38100" dist="38100" dir="5400000" sx="98000" sy="98000" algn="t" rotWithShape="0">
              <a:prstClr val="black">
                <a:alpha val="18000"/>
              </a:prstClr>
            </a:outerShdw>
          </a:effectLst>
        </p:spPr>
        <p:txBody>
          <a:bodyPr rot="10800000" wrap="none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2"/>
            </p:custDataLst>
          </p:nvPr>
        </p:nvSpPr>
        <p:spPr>
          <a:xfrm>
            <a:off x="3305810" y="2982712"/>
            <a:ext cx="732508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二、咖啡是什么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9" name="矩形: 圆角 48"/>
          <p:cNvSpPr/>
          <p:nvPr>
            <p:custDataLst>
              <p:tags r:id="rId3"/>
            </p:custDataLst>
          </p:nvPr>
        </p:nvSpPr>
        <p:spPr>
          <a:xfrm>
            <a:off x="2984500" y="3791107"/>
            <a:ext cx="7026274" cy="658812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/>
              </a:gs>
              <a:gs pos="53000">
                <a:srgbClr val="EAEAEA"/>
              </a:gs>
              <a:gs pos="100000">
                <a:srgbClr val="FFFFFF"/>
              </a:gs>
            </a:gsLst>
            <a:lin ang="5400000" scaled="1"/>
            <a:tileRect/>
          </a:gradFill>
          <a:ln w="6350">
            <a:solidFill>
              <a:srgbClr val="EAEAEA"/>
            </a:solidFill>
            <a:miter lim="800000"/>
          </a:ln>
          <a:effectLst>
            <a:outerShdw blurRad="38100" dist="38100" dir="5400000" sx="98000" sy="98000" algn="t" rotWithShape="0">
              <a:prstClr val="black">
                <a:alpha val="18000"/>
              </a:prstClr>
            </a:outerShdw>
          </a:effectLst>
        </p:spPr>
        <p:txBody>
          <a:bodyPr rot="10800000" wrap="none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0" name="文本框 49"/>
          <p:cNvSpPr txBox="1"/>
          <p:nvPr>
            <p:custDataLst>
              <p:tags r:id="rId4"/>
            </p:custDataLst>
          </p:nvPr>
        </p:nvSpPr>
        <p:spPr>
          <a:xfrm>
            <a:off x="3305809" y="3874292"/>
            <a:ext cx="6601515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三、咖啡开发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2" name="矩形: 圆角 51"/>
          <p:cNvSpPr/>
          <p:nvPr>
            <p:custDataLst>
              <p:tags r:id="rId5"/>
            </p:custDataLst>
          </p:nvPr>
        </p:nvSpPr>
        <p:spPr>
          <a:xfrm>
            <a:off x="2984500" y="4682687"/>
            <a:ext cx="7026274" cy="658812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/>
              </a:gs>
              <a:gs pos="53000">
                <a:srgbClr val="EAEAEA"/>
              </a:gs>
              <a:gs pos="100000">
                <a:srgbClr val="FFFFFF"/>
              </a:gs>
            </a:gsLst>
            <a:lin ang="5400000" scaled="1"/>
            <a:tileRect/>
          </a:gradFill>
          <a:ln w="6350">
            <a:solidFill>
              <a:srgbClr val="EAEAEA"/>
            </a:solidFill>
            <a:miter lim="800000"/>
          </a:ln>
          <a:effectLst>
            <a:outerShdw blurRad="38100" dist="38100" dir="5400000" sx="98000" sy="98000" algn="t" rotWithShape="0">
              <a:prstClr val="black">
                <a:alpha val="18000"/>
              </a:prstClr>
            </a:outerShdw>
          </a:effectLst>
        </p:spPr>
        <p:txBody>
          <a:bodyPr rot="10800000" wrap="none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3" name="文本框 52"/>
          <p:cNvSpPr txBox="1"/>
          <p:nvPr>
            <p:custDataLst>
              <p:tags r:id="rId6"/>
            </p:custDataLst>
          </p:nvPr>
        </p:nvSpPr>
        <p:spPr>
          <a:xfrm>
            <a:off x="3305810" y="4765872"/>
            <a:ext cx="660151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四、我爱喝咖啡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矩形: 圆角 45"/>
          <p:cNvSpPr/>
          <p:nvPr>
            <p:custDataLst>
              <p:tags r:id="rId7"/>
            </p:custDataLst>
          </p:nvPr>
        </p:nvSpPr>
        <p:spPr>
          <a:xfrm>
            <a:off x="2984500" y="2014972"/>
            <a:ext cx="6922824" cy="658812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/>
              </a:gs>
              <a:gs pos="53000">
                <a:srgbClr val="EAEAEA"/>
              </a:gs>
              <a:gs pos="100000">
                <a:srgbClr val="FFFFFF"/>
              </a:gs>
            </a:gsLst>
            <a:lin ang="5400000" scaled="1"/>
            <a:tileRect/>
          </a:gradFill>
          <a:ln w="6350">
            <a:solidFill>
              <a:srgbClr val="EAEAEA"/>
            </a:solidFill>
            <a:miter lim="800000"/>
          </a:ln>
          <a:effectLst>
            <a:outerShdw blurRad="38100" dist="38100" dir="5400000" sx="98000" sy="98000" algn="t" rotWithShape="0">
              <a:prstClr val="black">
                <a:alpha val="18000"/>
              </a:prstClr>
            </a:outerShdw>
          </a:effectLst>
        </p:spPr>
        <p:txBody>
          <a:bodyPr rot="10800000" wrap="none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8"/>
            </p:custDataLst>
          </p:nvPr>
        </p:nvSpPr>
        <p:spPr>
          <a:xfrm>
            <a:off x="3305810" y="2098157"/>
            <a:ext cx="6601514" cy="4921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99"/>
              </a:buClr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  <a:t>一、概述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344488" y="69563"/>
            <a:ext cx="7913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一、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ea"/>
              </a:rPr>
              <a:t>概述</a:t>
            </a:r>
            <a:endParaRPr kumimoji="1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4" name="TextBox 12"/>
          <p:cNvSpPr txBox="1">
            <a:spLocks noChangeArrowheads="1"/>
          </p:cNvSpPr>
          <p:nvPr/>
        </p:nvSpPr>
        <p:spPr bwMode="auto">
          <a:xfrm>
            <a:off x="7614815" y="3663101"/>
            <a:ext cx="5054600" cy="297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400">
                <a:solidFill>
                  <a:schemeClr val="tx1"/>
                </a:solidFill>
                <a:latin typeface="等线" panose="02010600030101010101" pitchFamily="2" charset="-122"/>
                <a:ea typeface="宋体" panose="02010600030101010101" pitchFamily="2" charset="-122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等线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等线" panose="02010600030101010101" pitchFamily="2" charset="-122"/>
                <a:ea typeface="宋体" panose="02010600030101010101" pitchFamily="2" charset="-122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等线" panose="02010600030101010101" pitchFamily="2" charset="-122"/>
                <a:ea typeface="宋体" panose="02010600030101010101" pitchFamily="2" charset="-122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等线" panose="02010600030101010101" pitchFamily="2" charset="-122"/>
                <a:ea typeface="宋体" panose="02010600030101010101" pitchFamily="2" charset="-122"/>
              </a:defRPr>
            </a:lvl5pPr>
            <a:lvl6pPr marL="2514600" indent="-228600" defTabSz="68453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等线" panose="02010600030101010101" pitchFamily="2" charset="-122"/>
                <a:ea typeface="宋体" panose="02010600030101010101" pitchFamily="2" charset="-122"/>
              </a:defRPr>
            </a:lvl6pPr>
            <a:lvl7pPr marL="2971800" indent="-228600" defTabSz="68453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等线" panose="02010600030101010101" pitchFamily="2" charset="-122"/>
                <a:ea typeface="宋体" panose="02010600030101010101" pitchFamily="2" charset="-122"/>
              </a:defRPr>
            </a:lvl7pPr>
            <a:lvl8pPr marL="3429000" indent="-228600" defTabSz="68453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等线" panose="02010600030101010101" pitchFamily="2" charset="-122"/>
                <a:ea typeface="宋体" panose="02010600030101010101" pitchFamily="2" charset="-122"/>
              </a:defRPr>
            </a:lvl8pPr>
            <a:lvl9pPr marL="3886200" indent="-228600" defTabSz="68453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等线" panose="02010600030101010101" pitchFamily="2" charset="-122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35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世界咖啡和生产国家情况对比图</a:t>
            </a:r>
            <a:endParaRPr kumimoji="0" lang="en-US" altLang="zh-CN" sz="1335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0" y="680379"/>
            <a:ext cx="4852012" cy="526747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/>
          <a:p>
            <a:pPr marL="381000" marR="0" lvl="0" indent="-3810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defRPr/>
            </a:pPr>
            <a:r>
              <a:rPr lang="zh-CN" altLang="en-US" sz="2135" b="1" dirty="0">
                <a:solidFill>
                  <a:srgbClr val="5B9BD5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项目背景与需求</a:t>
            </a:r>
            <a:endParaRPr kumimoji="0" lang="en-US" altLang="zh-CN" sz="2135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23" name="组合 22"/>
          <p:cNvGrpSpPr/>
          <p:nvPr/>
        </p:nvGrpSpPr>
        <p:grpSpPr>
          <a:xfrm>
            <a:off x="148052" y="1230056"/>
            <a:ext cx="8110123" cy="1815459"/>
            <a:chOff x="334962" y="865041"/>
            <a:chExt cx="11598255" cy="1563833"/>
          </a:xfrm>
        </p:grpSpPr>
        <p:sp>
          <p:nvSpPr>
            <p:cNvPr id="24" name="矩形: 圆角 23"/>
            <p:cNvSpPr/>
            <p:nvPr/>
          </p:nvSpPr>
          <p:spPr>
            <a:xfrm>
              <a:off x="334962" y="865041"/>
              <a:ext cx="11522075" cy="1563833"/>
            </a:xfrm>
            <a:prstGeom prst="roundRect">
              <a:avLst>
                <a:gd name="adj" fmla="val 3207"/>
              </a:avLst>
            </a:prstGeom>
            <a:solidFill>
              <a:schemeClr val="bg1"/>
            </a:solidFill>
            <a:ln w="6350">
              <a:solidFill>
                <a:srgbClr val="0D4591">
                  <a:alpha val="28000"/>
                </a:srgbClr>
              </a:solidFill>
            </a:ln>
            <a:effectLst>
              <a:outerShdw blurRad="203200" dist="88900" dir="5400000" sx="96000" sy="96000" algn="t" rotWithShape="0">
                <a:srgbClr val="063078">
                  <a:alpha val="18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/>
                <a:ea typeface="思源黑体 CN Regular" panose="020B0500000000000000" charset="-122"/>
                <a:cs typeface="+mn-cs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334963" y="879700"/>
              <a:ext cx="11598254" cy="15102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4472C4"/>
                </a:buClr>
                <a:buSzTx/>
                <a:buFontTx/>
                <a:buAutoNum type="circleNumDbPlain"/>
                <a:defRPr/>
              </a:pPr>
              <a:r>
                <a:rPr kumimoji="0" lang="zh-CN" alt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咖啡</a:t>
              </a:r>
              <a:r>
                <a:rPr kumimoji="0" lang="zh-CN" alt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需求量大</a:t>
              </a:r>
              <a:r>
                <a:rPr kumimoji="0" lang="zh-CN" alt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，价格上涨，对外依赖程度高；</a:t>
              </a:r>
              <a:endPara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4472C4"/>
                </a:buClr>
                <a:buSzTx/>
                <a:buFontTx/>
                <a:buAutoNum type="circleNumDbPlain"/>
                <a:defRPr/>
              </a:pPr>
              <a:r>
                <a:rPr kumimoji="0" lang="zh-CN" alt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咖啡豆开发重心</a:t>
              </a:r>
              <a:r>
                <a:rPr kumimoji="0" lang="zh-CN" alt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从云南向世界；</a:t>
              </a:r>
              <a:endPara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  <a:p>
              <a:pPr marL="0" marR="0" lvl="0" indent="0" algn="just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4472C4"/>
                </a:buClr>
                <a:buSzTx/>
                <a:buFontTx/>
                <a:buAutoNum type="circleNumDbPlain"/>
                <a:defRPr/>
              </a:pPr>
              <a:r>
                <a:rPr kumimoji="0" lang="zh-CN" alt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中国咖啡豆储量巨大，占全球咖啡量</a:t>
              </a:r>
              <a:r>
                <a:rPr kumimoji="0" lang="en-US" altLang="zh-CN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29%</a:t>
              </a:r>
              <a:r>
                <a:rPr kumimoji="0" lang="zh-CN" alt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左右。</a:t>
              </a:r>
              <a:endPara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487" y="781988"/>
            <a:ext cx="3869070" cy="290180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1127" y="3129526"/>
            <a:ext cx="3417496" cy="3417496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754" y="3062533"/>
            <a:ext cx="3519310" cy="351931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7546" y="4065705"/>
            <a:ext cx="3723060" cy="27922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344488" y="69563"/>
            <a:ext cx="7913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三、中国与世界咖啡对比</a:t>
            </a:r>
            <a:endParaRPr kumimoji="1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1547" y="654338"/>
            <a:ext cx="4852012" cy="526747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/>
          <a:p>
            <a:pPr marL="381000" marR="0" lvl="0" indent="-3810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defRPr/>
            </a:pPr>
            <a:r>
              <a:rPr kumimoji="0" lang="zh-CN" altLang="en-US" sz="2135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咖啡产地</a:t>
            </a:r>
            <a:endParaRPr kumimoji="0" lang="en-US" altLang="zh-CN" sz="2135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68718" y="3741025"/>
          <a:ext cx="11854563" cy="29727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3081"/>
                <a:gridCol w="1792941"/>
                <a:gridCol w="8498541"/>
              </a:tblGrid>
              <a:tr h="425512">
                <a:tc>
                  <a:txBody>
                    <a:bodyPr/>
                    <a:lstStyle/>
                    <a:p>
                      <a:pPr algn="ctr"/>
                      <a:r>
                        <a:rPr lang="zh-CN" altLang="en-US" b="1" dirty="0"/>
                        <a:t>国家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chemeClr val="bg1"/>
                          </a:solidFill>
                        </a:rPr>
                        <a:t>主要产区</a:t>
                      </a:r>
                      <a:endParaRPr lang="zh-CN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主要咖啡产地特征</a:t>
                      </a:r>
                      <a:endParaRPr lang="zh-CN" altLang="en-US" sz="1800" b="1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</a:tr>
              <a:tr h="425512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中国</a:t>
                      </a:r>
                      <a:endParaRPr lang="zh-CN" altLang="en-US" sz="18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b="1" dirty="0"/>
                        <a:t>普洱</a:t>
                      </a:r>
                      <a:endParaRPr lang="zh-CN" altLang="en-US" sz="18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以阿拉比卡为主，产区集中度高；高海拔山地种植，近年精品化趋势明显</a:t>
                      </a:r>
                      <a:endParaRPr lang="zh-CN" altLang="en-US" b="1" dirty="0"/>
                    </a:p>
                  </a:txBody>
                  <a:tcPr anchor="ctr"/>
                </a:tc>
              </a:tr>
              <a:tr h="425512">
                <a:tc vMerge="1"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保山</a:t>
                      </a:r>
                      <a:endParaRPr lang="zh-CN" altLang="en-US" sz="18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 vMerge="1">
                  <a:tcPr anchor="ctr"/>
                </a:tc>
              </a:tr>
              <a:tr h="425512">
                <a:tc vMerge="1"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b="1" dirty="0"/>
                        <a:t>德宏</a:t>
                      </a:r>
                      <a:endParaRPr lang="zh-CN" altLang="en-US" b="1" dirty="0"/>
                    </a:p>
                  </a:txBody>
                  <a:tcPr anchor="ctr"/>
                </a:tc>
                <a:tc vMerge="1">
                  <a:tcPr anchor="ctr"/>
                </a:tc>
              </a:tr>
              <a:tr h="851025">
                <a:tc>
                  <a:txBody>
                    <a:bodyPr/>
                    <a:lstStyle/>
                    <a:p>
                      <a:pPr algn="ctr"/>
                      <a:r>
                        <a:rPr lang="zh-CN" altLang="en-US" b="1" dirty="0"/>
                        <a:t>巴西</a:t>
                      </a:r>
                      <a:endParaRPr lang="zh-CN" altLang="en-US" b="1" dirty="0"/>
                    </a:p>
                  </a:txBody>
                  <a:tcPr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圣保罗</a:t>
                      </a:r>
                      <a:endParaRPr lang="zh-CN" altLang="en-US" sz="18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全球最大咖啡生产国之一，阿拉比卡和罗布斯塔均有；规模化、机械化程度高。</a:t>
                      </a:r>
                      <a:endParaRPr lang="zh-CN" altLang="en-US" sz="18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4196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越南</a:t>
                      </a:r>
                      <a:endParaRPr lang="zh-CN" altLang="en-US" sz="18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中央高原</a:t>
                      </a:r>
                      <a:endParaRPr lang="zh-CN" altLang="en-US" sz="18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以罗布斯塔为主，产量大；广泛用于速溶咖啡、拼配和意式咖啡基底</a:t>
                      </a:r>
                      <a:endParaRPr lang="zh-CN" altLang="en-US" sz="18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矩形 8"/>
          <p:cNvSpPr/>
          <p:nvPr/>
        </p:nvSpPr>
        <p:spPr>
          <a:xfrm>
            <a:off x="168718" y="1300547"/>
            <a:ext cx="11854562" cy="2237131"/>
          </a:xfrm>
          <a:prstGeom prst="rect">
            <a:avLst/>
          </a:prstGeom>
          <a:gradFill>
            <a:gsLst>
              <a:gs pos="0">
                <a:schemeClr val="bg1">
                  <a:alpha val="15000"/>
                </a:schemeClr>
              </a:gs>
              <a:gs pos="51000">
                <a:srgbClr val="00B0F0">
                  <a:lumMod val="1000"/>
                  <a:lumOff val="99000"/>
                </a:srgbClr>
              </a:gs>
              <a:gs pos="100000">
                <a:srgbClr val="00B0F0">
                  <a:lumMod val="4000"/>
                  <a:lumOff val="96000"/>
                </a:srgbClr>
              </a:gs>
            </a:gsLst>
            <a:lin ang="16200000" scaled="0"/>
          </a:gradFill>
          <a:ln>
            <a:gradFill>
              <a:gsLst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38380" y="1191395"/>
            <a:ext cx="11715237" cy="23462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24C98"/>
              </a:buClr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中国咖啡产地高度集中，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云南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是核心产区，贡献全国绝大部分咖啡产量；国内咖啡以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阿拉比卡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为主，主要分布在普洱、保山、德宏、临沧等地。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24C98"/>
              </a:buClr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从全球看，咖啡主产区主要分布在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拉丁美洲、东南亚和非洲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，其中巴西、越南、哥伦比亚、印度尼西亚、埃塞俄比亚等国家产量规模较大。对比来看，中国咖啡总量相对较小，但云南具备高海拔、热带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亚热带山地气候等条件，后续可重点关注精品咖啡、品牌化和深加工潜力。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344488" y="69563"/>
            <a:ext cx="7913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24C98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三、中国与世界咖啡产区对比</a:t>
            </a:r>
            <a:endParaRPr kumimoji="1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024C98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44488" y="1464945"/>
            <a:ext cx="11512550" cy="1234293"/>
          </a:xfrm>
          <a:prstGeom prst="rect">
            <a:avLst/>
          </a:prstGeom>
          <a:gradFill>
            <a:gsLst>
              <a:gs pos="0">
                <a:schemeClr val="bg1">
                  <a:alpha val="15000"/>
                </a:schemeClr>
              </a:gs>
              <a:gs pos="51000">
                <a:srgbClr val="00B0F0">
                  <a:lumMod val="1000"/>
                  <a:lumOff val="99000"/>
                </a:srgbClr>
              </a:gs>
              <a:gs pos="100000">
                <a:srgbClr val="00B0F0">
                  <a:lumMod val="4000"/>
                  <a:lumOff val="96000"/>
                </a:srgbClr>
              </a:gs>
            </a:gsLst>
            <a:lin ang="16200000" scaled="0"/>
          </a:gradFill>
          <a:ln>
            <a:gradFill>
              <a:gsLst>
                <a:gs pos="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334963" y="826382"/>
            <a:ext cx="11522075" cy="482600"/>
          </a:xfrm>
          <a:prstGeom prst="rect">
            <a:avLst/>
          </a:prstGeom>
          <a:noFill/>
          <a:ln w="19050" cmpd="sng">
            <a:noFill/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</a:extLst>
        </p:spPr>
        <p:txBody>
          <a:bodyPr vert="horz" wrap="square" lIns="68577" tIns="34289" rIns="68577" bIns="34289" numCol="1" spcCol="0" rtlCol="0" fromWordArt="0" anchor="t" anchorCtr="0" forceAA="0" compatLnSpc="0">
            <a:noAutofit/>
            <a:scene3d>
              <a:camera prst="orthographicFront"/>
              <a:lightRig rig="threePt" dir="t"/>
            </a:scene3d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zh-CN" altLang="en-US" sz="1400" spc="38" noProof="0" dirty="0">
              <a:ln>
                <a:noFill/>
              </a:ln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3813" y="1479933"/>
            <a:ext cx="11255605" cy="1156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539750" algn="just">
              <a:lnSpc>
                <a:spcPct val="150000"/>
              </a:lnSpc>
              <a:buClr>
                <a:srgbClr val="024C98"/>
              </a:buClr>
            </a:pPr>
            <a:r>
              <a:rPr lang="zh-CN" altLang="en-US" sz="1600" b="1" dirty="0">
                <a:solidFill>
                  <a:srgbClr val="024C9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根据上述调研，</a:t>
            </a:r>
            <a:r>
              <a: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云南咖啡</a:t>
            </a:r>
            <a:r>
              <a:rPr lang="zh-CN" altLang="en-US" sz="1600" b="1" dirty="0">
                <a:solidFill>
                  <a:srgbClr val="024C9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已成为中国咖啡产业的核心产区，但与巴西、哥伦比亚、埃塞俄比亚等成熟产区相比，在</a:t>
            </a:r>
            <a:r>
              <a: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品种选育、精深加工、品牌溢价和国际定价</a:t>
            </a:r>
            <a:r>
              <a:rPr lang="zh-CN" altLang="en-US" sz="1600" b="1" dirty="0">
                <a:solidFill>
                  <a:srgbClr val="024C9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能力方面仍存在差距。系统研究云南咖啡的产区环境、品种结构、加工方式与杯测品质之间的关系，有助于明确中国咖啡的差异化竞争优势，并为云南咖啡向</a:t>
            </a:r>
            <a:r>
              <a:rPr lang="zh-CN" altLang="en-US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精品化、标准化和品牌化</a:t>
            </a:r>
            <a:r>
              <a:rPr lang="zh-CN" altLang="en-US" sz="1600" b="1" dirty="0">
                <a:solidFill>
                  <a:srgbClr val="024C9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发展提供依据。</a:t>
            </a:r>
            <a:endParaRPr lang="zh-CN" altLang="en-US" sz="1600" b="1" dirty="0">
              <a:solidFill>
                <a:srgbClr val="024C9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344488" y="887650"/>
            <a:ext cx="11512550" cy="409575"/>
          </a:xfrm>
          <a:prstGeom prst="roundRect">
            <a:avLst/>
          </a:prstGeom>
          <a:solidFill>
            <a:srgbClr val="C00000"/>
          </a:solidFill>
          <a:ln w="19050" cmpd="sng">
            <a:noFill/>
            <a:prstDash val="sysDash"/>
          </a:ln>
        </p:spPr>
        <p:txBody>
          <a:bodyPr vert="horz" wrap="square" lIns="68577" tIns="34289" rIns="68577" bIns="34289" numCol="1" spcCol="0" rtlCol="0" fromWordArt="0" anchor="t" anchorCtr="0" forceAA="0" compatLnSpc="0">
            <a:noAutofit/>
            <a:scene3d>
              <a:camera prst="orthographicFront"/>
              <a:lightRig rig="threePt" dir="t"/>
            </a:scene3d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zh-CN" altLang="en-US" sz="1400" spc="38" noProof="0" dirty="0">
              <a:ln>
                <a:noFill/>
              </a:ln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483813" y="861605"/>
            <a:ext cx="100409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关键产业问题</a:t>
            </a:r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</a:t>
            </a: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：云南咖啡品质形成机制及产业升级路径研究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4106894" y="5932055"/>
            <a:ext cx="3636057" cy="590259"/>
            <a:chOff x="334963" y="5945586"/>
            <a:chExt cx="5484812" cy="607815"/>
          </a:xfrm>
        </p:grpSpPr>
        <p:sp>
          <p:nvSpPr>
            <p:cNvPr id="23" name="矩形 22"/>
            <p:cNvSpPr/>
            <p:nvPr/>
          </p:nvSpPr>
          <p:spPr>
            <a:xfrm>
              <a:off x="334963" y="5945586"/>
              <a:ext cx="5484812" cy="60781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noAutofit/>
            </a:bodyPr>
            <a:lstStyle/>
            <a:p>
              <a:pPr algn="ctr"/>
              <a:endParaRPr kumimoji="1" lang="zh-CN" altLang="en-US" sz="1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408718" y="6038721"/>
              <a:ext cx="5355429" cy="39756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600" b="1" dirty="0">
                  <a:solidFill>
                    <a:srgbClr val="024C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世界典型咖啡产区分布及风味特征图</a:t>
              </a:r>
              <a:endParaRPr lang="zh-CN" altLang="en-US" sz="1600" b="1" dirty="0">
                <a:solidFill>
                  <a:srgbClr val="024C98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5" name="矩形 24"/>
          <p:cNvSpPr/>
          <p:nvPr/>
        </p:nvSpPr>
        <p:spPr>
          <a:xfrm>
            <a:off x="4113350" y="2793449"/>
            <a:ext cx="3623145" cy="3731175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26" name="组合 25"/>
          <p:cNvGrpSpPr/>
          <p:nvPr/>
        </p:nvGrpSpPr>
        <p:grpSpPr>
          <a:xfrm>
            <a:off x="7894617" y="5932050"/>
            <a:ext cx="3968877" cy="590261"/>
            <a:chOff x="-167079" y="5945586"/>
            <a:chExt cx="5986855" cy="607818"/>
          </a:xfrm>
        </p:grpSpPr>
        <p:sp>
          <p:nvSpPr>
            <p:cNvPr id="27" name="矩形 26"/>
            <p:cNvSpPr/>
            <p:nvPr/>
          </p:nvSpPr>
          <p:spPr>
            <a:xfrm>
              <a:off x="-167079" y="5945586"/>
              <a:ext cx="5986855" cy="6078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noAutofit/>
            </a:bodyPr>
            <a:lstStyle/>
            <a:p>
              <a:pPr algn="ctr"/>
              <a:endParaRPr kumimoji="1" lang="zh-CN" altLang="en-US" sz="1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-151948" y="6038741"/>
              <a:ext cx="5971722" cy="37358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600" b="1" dirty="0">
                  <a:solidFill>
                    <a:srgbClr val="024C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中国云南咖啡品质形成与产业升级路径图</a:t>
              </a:r>
              <a:endParaRPr lang="zh-CN" altLang="en-US" sz="1600" b="1" dirty="0">
                <a:solidFill>
                  <a:srgbClr val="024C98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9" name="矩形 28"/>
          <p:cNvSpPr/>
          <p:nvPr/>
        </p:nvSpPr>
        <p:spPr>
          <a:xfrm>
            <a:off x="7890916" y="2793449"/>
            <a:ext cx="3968876" cy="3731175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30" name="组合 29"/>
          <p:cNvGrpSpPr/>
          <p:nvPr/>
        </p:nvGrpSpPr>
        <p:grpSpPr>
          <a:xfrm>
            <a:off x="338538" y="5885504"/>
            <a:ext cx="3636057" cy="636813"/>
            <a:chOff x="334963" y="5897649"/>
            <a:chExt cx="5484812" cy="655754"/>
          </a:xfrm>
        </p:grpSpPr>
        <p:sp>
          <p:nvSpPr>
            <p:cNvPr id="31" name="矩形 30"/>
            <p:cNvSpPr/>
            <p:nvPr/>
          </p:nvSpPr>
          <p:spPr>
            <a:xfrm>
              <a:off x="334963" y="5897649"/>
              <a:ext cx="5484812" cy="6557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noAutofit/>
            </a:bodyPr>
            <a:lstStyle/>
            <a:p>
              <a:pPr algn="ctr"/>
              <a:endParaRPr kumimoji="1" lang="zh-CN" altLang="en-US" sz="1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455101" y="6011838"/>
              <a:ext cx="5133453" cy="37358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600" b="1" dirty="0">
                  <a:solidFill>
                    <a:srgbClr val="024C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中国云南咖啡核心产区分布图</a:t>
              </a:r>
              <a:endParaRPr lang="zh-CN" altLang="en-US" sz="1600" b="1" dirty="0">
                <a:solidFill>
                  <a:srgbClr val="024C98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3" name="矩形 32"/>
          <p:cNvSpPr/>
          <p:nvPr/>
        </p:nvSpPr>
        <p:spPr>
          <a:xfrm>
            <a:off x="344994" y="2793449"/>
            <a:ext cx="3623145" cy="3731175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88" y="2914057"/>
            <a:ext cx="3675502" cy="275662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3350" y="2954493"/>
            <a:ext cx="3557364" cy="2668023"/>
          </a:xfrm>
          <a:prstGeom prst="rect">
            <a:avLst/>
          </a:prstGeom>
        </p:spPr>
      </p:pic>
      <p:pic>
        <p:nvPicPr>
          <p:cNvPr id="37" name="图片 3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1074" y="2865006"/>
            <a:ext cx="3963784" cy="29728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DIAGRAM_VIRTUALLY_FRAME" val="{&quot;height&quot;:402.89055118110224,&quot;left&quot;:235,&quot;top&quot;:86.8515748031496,&quot;width&quot;:909.2}"/>
</p:tagLst>
</file>

<file path=ppt/tags/tag7.xml><?xml version="1.0" encoding="utf-8"?>
<p:tagLst xmlns:p="http://schemas.openxmlformats.org/presentationml/2006/main">
  <p:tag name="KSO_WM_DIAGRAM_VIRTUALLY_FRAME" val="{&quot;height&quot;:402.89055118110224,&quot;left&quot;:235,&quot;top&quot;:86.8515748031496,&quot;width&quot;:909.2}"/>
</p:tagLst>
</file>

<file path=ppt/tags/tag8.xml><?xml version="1.0" encoding="utf-8"?>
<p:tagLst xmlns:p="http://schemas.openxmlformats.org/presentationml/2006/main">
  <p:tag name="KSO_WM_DIAGRAM_VIRTUALLY_FRAME" val="{&quot;height&quot;:402.89055118110224,&quot;left&quot;:235,&quot;top&quot;:86.8515748031496,&quot;width&quot;:909.2}"/>
</p:tagLst>
</file>

<file path=ppt/tags/tag9.xml><?xml version="1.0" encoding="utf-8"?>
<p:tagLst xmlns:p="http://schemas.openxmlformats.org/presentationml/2006/main">
  <p:tag name="KSO_WM_DIAGRAM_VIRTUALLY_FRAME" val="{&quot;height&quot;:402.89055118110224,&quot;left&quot;:235,&quot;top&quot;:86.8515748031496,&quot;width&quot;:909.2}"/>
</p:tagLst>
</file>

<file path=ppt/tags/tag10.xml><?xml version="1.0" encoding="utf-8"?>
<p:tagLst xmlns:p="http://schemas.openxmlformats.org/presentationml/2006/main">
  <p:tag name="KSO_WM_DIAGRAM_VIRTUALLY_FRAME" val="{&quot;height&quot;:402.89055118110224,&quot;left&quot;:235,&quot;top&quot;:86.8515748031496,&quot;width&quot;:909.2}"/>
</p:tagLst>
</file>

<file path=ppt/tags/tag11.xml><?xml version="1.0" encoding="utf-8"?>
<p:tagLst xmlns:p="http://schemas.openxmlformats.org/presentationml/2006/main">
  <p:tag name="KSO_WM_DIAGRAM_VIRTUALLY_FRAME" val="{&quot;height&quot;:402.89055118110224,&quot;left&quot;:235,&quot;top&quot;:86.8515748031496,&quot;width&quot;:909.2}"/>
</p:tagLst>
</file>

<file path=ppt/tags/tag12.xml><?xml version="1.0" encoding="utf-8"?>
<p:tagLst xmlns:p="http://schemas.openxmlformats.org/presentationml/2006/main">
  <p:tag name="KSO_WM_DIAGRAM_VIRTUALLY_FRAME" val="{&quot;height&quot;:402.89055118110224,&quot;left&quot;:235,&quot;top&quot;:86.8515748031496,&quot;width&quot;:909.2}"/>
</p:tagLst>
</file>

<file path=ppt/tags/tag13.xml><?xml version="1.0" encoding="utf-8"?>
<p:tagLst xmlns:p="http://schemas.openxmlformats.org/presentationml/2006/main">
  <p:tag name="KSO_WM_DIAGRAM_VIRTUALLY_FRAME" val="{&quot;height&quot;:402.89055118110224,&quot;left&quot;:235,&quot;top&quot;:86.8515748031496,&quot;width&quot;:909.2}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视点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9050" cmpd="sng">
          <a:solidFill>
            <a:schemeClr val="accent1">
              <a:shade val="50000"/>
            </a:schemeClr>
          </a:solidFill>
          <a:prstDash val="sysDash"/>
        </a:ln>
      </a:spPr>
      <a:bodyPr vert="horz" wrap="square" lIns="68577" tIns="34289" rIns="68577" bIns="34289" numCol="1" spcCol="0" rtlCol="0" fromWordArt="0" anchor="t" anchorCtr="0" forceAA="0" compatLnSpc="0">
        <a:noAutofit/>
        <a:scene3d>
          <a:camera prst="orthographicFront"/>
          <a:lightRig rig="threePt" dir="t"/>
        </a:scene3d>
      </a:bodyPr>
      <a:lstStyle>
        <a:defPPr algn="ctr">
          <a:lnSpc>
            <a:spcPct val="130000"/>
          </a:lnSpc>
          <a:spcBef>
            <a:spcPts val="0"/>
          </a:spcBef>
          <a:spcAft>
            <a:spcPts val="0"/>
          </a:spcAft>
          <a:buClrTx/>
          <a:buSzTx/>
          <a:buFontTx/>
          <a:defRPr sz="1400" spc="38" noProof="0" dirty="0">
            <a:ln>
              <a:noFill/>
            </a:ln>
            <a:effectLst>
              <a:outerShdw blurRad="38100" dist="19050" dir="2700000" algn="tl" rotWithShape="0">
                <a:prstClr val="black">
                  <a:alpha val="40000"/>
                </a:prstClr>
              </a:outerShdw>
            </a:effectLst>
            <a:uLnTx/>
            <a:uFillTx/>
            <a:latin typeface="微软雅黑" panose="020B0503020204020204" pitchFamily="34" charset="-122"/>
            <a:ea typeface="微软雅黑" panose="020B0503020204020204" pitchFamily="34" charset="-122"/>
            <a:sym typeface="+mn-ea"/>
          </a:defRPr>
        </a:defPPr>
      </a:lst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视点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9050" cmpd="sng">
          <a:solidFill>
            <a:schemeClr val="accent1">
              <a:shade val="50000"/>
            </a:schemeClr>
          </a:solidFill>
          <a:prstDash val="sysDash"/>
        </a:ln>
      </a:spPr>
      <a:bodyPr vert="horz" wrap="square" lIns="68577" tIns="34289" rIns="68577" bIns="34289" numCol="1" spcCol="0" rtlCol="0" fromWordArt="0" anchor="t" anchorCtr="0" forceAA="0" compatLnSpc="0">
        <a:noAutofit/>
        <a:scene3d>
          <a:camera prst="orthographicFront"/>
          <a:lightRig rig="threePt" dir="t"/>
        </a:scene3d>
      </a:bodyPr>
      <a:lstStyle>
        <a:defPPr algn="ctr">
          <a:lnSpc>
            <a:spcPct val="130000"/>
          </a:lnSpc>
          <a:spcBef>
            <a:spcPts val="0"/>
          </a:spcBef>
          <a:spcAft>
            <a:spcPts val="0"/>
          </a:spcAft>
          <a:buClrTx/>
          <a:buSzTx/>
          <a:buFontTx/>
          <a:defRPr sz="1400" spc="38" noProof="0" dirty="0">
            <a:ln>
              <a:noFill/>
            </a:ln>
            <a:effectLst>
              <a:outerShdw blurRad="38100" dist="19050" dir="2700000" algn="tl" rotWithShape="0">
                <a:prstClr val="black">
                  <a:alpha val="40000"/>
                </a:prstClr>
              </a:outerShdw>
            </a:effectLst>
            <a:uLnTx/>
            <a:uFillTx/>
            <a:latin typeface="微软雅黑" panose="020B0503020204020204" pitchFamily="34" charset="-122"/>
            <a:ea typeface="微软雅黑" panose="020B0503020204020204" pitchFamily="34" charset="-122"/>
            <a:sym typeface="+mn-ea"/>
          </a:defRPr>
        </a:defPPr>
      </a:lst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779</Words>
  <Application>WPS 演示</Application>
  <PresentationFormat>宽屏</PresentationFormat>
  <Paragraphs>83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宋体</vt:lpstr>
      <vt:lpstr>Wingdings</vt:lpstr>
      <vt:lpstr>微软雅黑</vt:lpstr>
      <vt:lpstr>Verdana</vt:lpstr>
      <vt:lpstr>Times New Roman</vt:lpstr>
      <vt:lpstr>等线</vt:lpstr>
      <vt:lpstr>Roboto</vt:lpstr>
      <vt:lpstr>思源黑体 CN Regular</vt:lpstr>
      <vt:lpstr>Calibri</vt:lpstr>
      <vt:lpstr>Arial Unicode MS</vt:lpstr>
      <vt:lpstr>黑体</vt:lpstr>
      <vt:lpstr>1_Office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李梅 同学</dc:creator>
  <cp:lastModifiedBy>猫与咖啡</cp:lastModifiedBy>
  <cp:revision>5</cp:revision>
  <dcterms:created xsi:type="dcterms:W3CDTF">2026-03-20T07:43:00Z</dcterms:created>
  <dcterms:modified xsi:type="dcterms:W3CDTF">2026-08-28T02:09:36Z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7265664A0A2A4480A0DF3C813D09C3B9_12</vt:lpwstr>
  </property>
</Properties>
</file>