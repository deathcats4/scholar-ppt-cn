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</p:sldMasterIdLst>
  <p:notesMasterIdLst>
    <p:notesMasterId r:id="rId8"/>
  </p:notesMasterIdLst>
  <p:sldIdLst>
    <p:sldId id="3888" r:id="rId3"/>
    <p:sldId id="10477" r:id="rId4"/>
    <p:sldId id="10271" r:id="rId5"/>
    <p:sldId id="10514" r:id="rId6"/>
    <p:sldId id="1051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F077E-F0D0-4C93-A778-6E175A02983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A00DF-5A0F-487D-9C71-D02ABE4024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下面我代表团队从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个方面进行汇报。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zh-CN" altLang="en-US" sz="16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886E-F3C4-9711-833B-A240D172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2E88F-2AA9-3BCF-7629-F80E48993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4C5EDA-1E03-493C-9022-B8E34148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961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24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1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33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5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2EA3-73EC-4C9A-84E9-CAB31E278D91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30C2-180C-4AA1-8A9A-C62BC2A256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2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60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0"/>
            <a:ext cx="12192000" cy="714375"/>
            <a:chOff x="0" y="0"/>
            <a:chExt cx="12192000" cy="765175"/>
          </a:xfrm>
        </p:grpSpPr>
        <p:sp>
          <p:nvSpPr>
            <p:cNvPr id="4" name="矩形 3"/>
            <p:cNvSpPr/>
            <p:nvPr/>
          </p:nvSpPr>
          <p:spPr>
            <a:xfrm>
              <a:off x="0" y="0"/>
              <a:ext cx="12192000" cy="765175"/>
            </a:xfrm>
            <a:prstGeom prst="rect">
              <a:avLst/>
            </a:prstGeom>
            <a:gradFill>
              <a:gsLst>
                <a:gs pos="41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0" y="765175"/>
              <a:ext cx="12192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000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>
          <a:xfrm>
            <a:off x="-44974" y="0"/>
            <a:ext cx="12281948" cy="6858000"/>
            <a:chOff x="-10572" y="0"/>
            <a:chExt cx="12281948" cy="6858000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5329"/>
              <a:ext cx="12204687" cy="6852671"/>
              <a:chOff x="0" y="5329"/>
              <a:chExt cx="12204687" cy="6852671"/>
            </a:xfrm>
          </p:grpSpPr>
          <p:grpSp>
            <p:nvGrpSpPr>
              <p:cNvPr id="88" name="组合 55"/>
              <p:cNvGrpSpPr/>
              <p:nvPr/>
            </p:nvGrpSpPr>
            <p:grpSpPr bwMode="auto">
              <a:xfrm>
                <a:off x="12688" y="5329"/>
                <a:ext cx="12191999" cy="4869160"/>
                <a:chOff x="-635" y="0"/>
                <a:chExt cx="9154161" cy="6858000"/>
              </a:xfrm>
            </p:grpSpPr>
            <p:grpSp>
              <p:nvGrpSpPr>
                <p:cNvPr id="89" name="组合 56"/>
                <p:cNvGrpSpPr/>
                <p:nvPr/>
              </p:nvGrpSpPr>
              <p:grpSpPr bwMode="auto">
                <a:xfrm>
                  <a:off x="-635" y="0"/>
                  <a:ext cx="9144635" cy="6858000"/>
                  <a:chOff x="-635" y="0"/>
                  <a:chExt cx="9144635" cy="6858000"/>
                </a:xfrm>
              </p:grpSpPr>
              <p:pic>
                <p:nvPicPr>
                  <p:cNvPr id="94" name="图片 61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1284" b="22884"/>
                  <a:stretch>
                    <a:fillRect/>
                  </a:stretch>
                </p:blipFill>
                <p:spPr bwMode="auto">
                  <a:xfrm>
                    <a:off x="0" y="3457852"/>
                    <a:ext cx="9144000" cy="34001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5" name="矩形 94"/>
                  <p:cNvSpPr/>
                  <p:nvPr/>
                </p:nvSpPr>
                <p:spPr>
                  <a:xfrm>
                    <a:off x="-635" y="0"/>
                    <a:ext cx="9144635" cy="6858000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bg1"/>
                      </a:gs>
                      <a:gs pos="51700">
                        <a:srgbClr val="FFFFFF"/>
                      </a:gs>
                      <a:gs pos="100000">
                        <a:schemeClr val="bg1">
                          <a:alpha val="88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cs typeface="+mn-cs"/>
                      <a:sym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90" name="组合 57"/>
                <p:cNvGrpSpPr/>
                <p:nvPr/>
              </p:nvGrpSpPr>
              <p:grpSpPr bwMode="auto">
                <a:xfrm>
                  <a:off x="-635" y="0"/>
                  <a:ext cx="9154161" cy="5145088"/>
                  <a:chOff x="-635" y="0"/>
                  <a:chExt cx="9154161" cy="5145088"/>
                </a:xfrm>
              </p:grpSpPr>
              <p:sp>
                <p:nvSpPr>
                  <p:cNvPr id="92" name="矩形 91"/>
                  <p:cNvSpPr/>
                  <p:nvPr/>
                </p:nvSpPr>
                <p:spPr>
                  <a:xfrm>
                    <a:off x="-635" y="0"/>
                    <a:ext cx="9146223" cy="5145088"/>
                  </a:xfrm>
                  <a:prstGeom prst="rect">
                    <a:avLst/>
                  </a:prstGeom>
                  <a:gradFill flip="none" rotWithShape="1">
                    <a:gsLst>
                      <a:gs pos="12000">
                        <a:srgbClr val="1D5EA7"/>
                      </a:gs>
                      <a:gs pos="61000">
                        <a:srgbClr val="1D5EA7">
                          <a:alpha val="0"/>
                        </a:srgb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cs typeface="+mn-cs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93" name="矩形 92"/>
                  <p:cNvSpPr/>
                  <p:nvPr/>
                </p:nvSpPr>
                <p:spPr>
                  <a:xfrm>
                    <a:off x="-635" y="0"/>
                    <a:ext cx="9154161" cy="3457575"/>
                  </a:xfrm>
                  <a:prstGeom prst="rect">
                    <a:avLst/>
                  </a:prstGeom>
                  <a:gradFill>
                    <a:gsLst>
                      <a:gs pos="43000">
                        <a:srgbClr val="FCFDFE">
                          <a:alpha val="80000"/>
                        </a:srgbClr>
                      </a:gs>
                      <a:gs pos="0">
                        <a:schemeClr val="accent1">
                          <a:lumMod val="5000"/>
                          <a:lumOff val="95000"/>
                          <a:alpha val="51000"/>
                        </a:schemeClr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1200" cap="none" spc="0" normalizeH="0" baseline="0" noProof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cs typeface="+mn-cs"/>
                      <a:sym typeface="Arial" panose="020B0604020202020204" pitchFamily="34" charset="0"/>
                    </a:endParaRPr>
                  </a:p>
                </p:txBody>
              </p:sp>
            </p:grpSp>
          </p:grpSp>
          <p:pic>
            <p:nvPicPr>
              <p:cNvPr id="102" name="Picture 2" descr="C:\Users\Administrator.4HID7VA1ULHJQ66\Desktop\2.jpg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6" t="13052" r="36" b="20631"/>
              <a:stretch>
                <a:fillRect/>
              </a:stretch>
            </p:blipFill>
            <p:spPr bwMode="auto">
              <a:xfrm>
                <a:off x="0" y="3444953"/>
                <a:ext cx="12192000" cy="34130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" name="矩形 3"/>
            <p:cNvSpPr/>
            <p:nvPr/>
          </p:nvSpPr>
          <p:spPr>
            <a:xfrm>
              <a:off x="-10572" y="0"/>
              <a:ext cx="12281948" cy="6858000"/>
            </a:xfrm>
            <a:prstGeom prst="rect">
              <a:avLst/>
            </a:prstGeom>
            <a:gradFill>
              <a:gsLst>
                <a:gs pos="81000">
                  <a:srgbClr val="FFFFFF"/>
                </a:gs>
                <a:gs pos="100000">
                  <a:srgbClr val="FFFFFF">
                    <a:alpha val="0"/>
                  </a:srgbClr>
                </a:gs>
                <a:gs pos="2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7" name="Text Box 16"/>
          <p:cNvSpPr txBox="1">
            <a:spLocks noChangeArrowheads="1"/>
          </p:cNvSpPr>
          <p:nvPr/>
        </p:nvSpPr>
        <p:spPr bwMode="auto">
          <a:xfrm>
            <a:off x="936094" y="1374694"/>
            <a:ext cx="10319811" cy="9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489" tIns="34249" rIns="68489" bIns="34249">
            <a:spAutoFit/>
          </a:bodyPr>
          <a:lstStyle>
            <a:defPPr>
              <a:defRPr lang="en-US"/>
            </a:defPPr>
            <a:lvl1pPr marR="0" lvl="0" indent="0">
              <a:spcBef>
                <a:spcPts val="600"/>
              </a:spcBef>
              <a:buClrTx/>
              <a:buSzTx/>
              <a:buFontTx/>
              <a:buNone/>
              <a:defRPr kumimoji="0" sz="3600" b="1" i="0" u="none" strike="noStrike" cap="none" spc="225" normalizeH="0" baseline="0">
                <a:ln w="9525">
                  <a:noFill/>
                  <a:prstDash val="solid"/>
                </a:ln>
                <a:solidFill>
                  <a:srgbClr val="FF0000"/>
                </a:solidFill>
                <a:effectLst>
                  <a:glow rad="190500">
                    <a:prstClr val="white">
                      <a:alpha val="94000"/>
                    </a:prst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91313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93300"/>
                </a:solidFill>
                <a:effectLst>
                  <a:glow rad="88900">
                    <a:prstClr val="white"/>
                  </a:glo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不明觉厉的标题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57149" y="3997425"/>
            <a:ext cx="3790861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24C98"/>
                </a:solidFill>
                <a:effectLst>
                  <a:glow rad="127000">
                    <a:prstClr val="white"/>
                  </a:glo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汇报人：阿杜与猫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643406" y="5288887"/>
            <a:ext cx="3326984" cy="369332"/>
            <a:chOff x="4224735" y="5328427"/>
            <a:chExt cx="3326984" cy="369332"/>
          </a:xfrm>
        </p:grpSpPr>
        <p:sp>
          <p:nvSpPr>
            <p:cNvPr id="15" name="文本框 14"/>
            <p:cNvSpPr txBox="1"/>
            <p:nvPr/>
          </p:nvSpPr>
          <p:spPr>
            <a:xfrm>
              <a:off x="6078559" y="5328427"/>
              <a:ext cx="1473160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24C98"/>
                  </a:solidFill>
                  <a:effectLst>
                    <a:glow rad="63500">
                      <a:prstClr val="white">
                        <a:alpha val="9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2026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24C98"/>
                  </a:solidFill>
                  <a:effectLst>
                    <a:glow rad="63500">
                      <a:prstClr val="white">
                        <a:alpha val="9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年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24C98"/>
                  </a:solidFill>
                  <a:effectLst>
                    <a:glow rad="63500">
                      <a:prstClr val="white">
                        <a:alpha val="9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6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24C98"/>
                  </a:solidFill>
                  <a:effectLst>
                    <a:glow rad="63500">
                      <a:prstClr val="white">
                        <a:alpha val="9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月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4735" y="5328427"/>
              <a:ext cx="1231106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24C98"/>
                  </a:solidFill>
                  <a:effectLst>
                    <a:glow rad="63500">
                      <a:prstClr val="white">
                        <a:alpha val="90000"/>
                      </a:prstClr>
                    </a:glo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哈佛大学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C501BA8-4CB5-0ECD-30D3-09DF19017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02" y="0"/>
            <a:ext cx="740147" cy="740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" y="-8"/>
            <a:ext cx="11293159" cy="800105"/>
            <a:chOff x="1" y="-8"/>
            <a:chExt cx="11293159" cy="800105"/>
          </a:xfrm>
        </p:grpSpPr>
        <p:sp>
          <p:nvSpPr>
            <p:cNvPr id="5" name="矩形 3"/>
            <p:cNvSpPr>
              <a:spLocks noChangeArrowheads="1"/>
            </p:cNvSpPr>
            <p:nvPr/>
          </p:nvSpPr>
          <p:spPr bwMode="auto">
            <a:xfrm>
              <a:off x="1778000" y="78564"/>
              <a:ext cx="576072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汇 报 内 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 flipV="1">
              <a:off x="1" y="-8"/>
              <a:ext cx="10163174" cy="800105"/>
            </a:xfrm>
            <a:custGeom>
              <a:avLst/>
              <a:gdLst>
                <a:gd name="connsiteX0" fmla="*/ 454027 w 12191999"/>
                <a:gd name="connsiteY0" fmla="*/ 908054 h 908054"/>
                <a:gd name="connsiteX1" fmla="*/ 12191999 w 12191999"/>
                <a:gd name="connsiteY1" fmla="*/ 908054 h 908054"/>
                <a:gd name="connsiteX2" fmla="*/ 12191999 w 12191999"/>
                <a:gd name="connsiteY2" fmla="*/ 454027 h 908054"/>
                <a:gd name="connsiteX3" fmla="*/ 11737972 w 12191999"/>
                <a:gd name="connsiteY3" fmla="*/ 0 h 908054"/>
                <a:gd name="connsiteX4" fmla="*/ 0 w 12191999"/>
                <a:gd name="connsiteY4" fmla="*/ 0 h 908054"/>
                <a:gd name="connsiteX5" fmla="*/ 0 w 12191999"/>
                <a:gd name="connsiteY5" fmla="*/ 3174 h 908054"/>
                <a:gd name="connsiteX6" fmla="*/ 0 w 12191999"/>
                <a:gd name="connsiteY6" fmla="*/ 454027 h 908054"/>
                <a:gd name="connsiteX7" fmla="*/ 0 w 12191999"/>
                <a:gd name="connsiteY7" fmla="*/ 908049 h 908054"/>
                <a:gd name="connsiteX8" fmla="*/ 453977 w 12191999"/>
                <a:gd name="connsiteY8" fmla="*/ 908049 h 90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1999" h="908054">
                  <a:moveTo>
                    <a:pt x="454027" y="908054"/>
                  </a:moveTo>
                  <a:lnTo>
                    <a:pt x="12191999" y="908054"/>
                  </a:lnTo>
                  <a:lnTo>
                    <a:pt x="12191999" y="454027"/>
                  </a:lnTo>
                  <a:cubicBezTo>
                    <a:pt x="12191999" y="203275"/>
                    <a:pt x="11988724" y="0"/>
                    <a:pt x="11737972" y="0"/>
                  </a:cubicBezTo>
                  <a:lnTo>
                    <a:pt x="0" y="0"/>
                  </a:lnTo>
                  <a:lnTo>
                    <a:pt x="0" y="3174"/>
                  </a:lnTo>
                  <a:lnTo>
                    <a:pt x="0" y="454027"/>
                  </a:lnTo>
                  <a:lnTo>
                    <a:pt x="0" y="908049"/>
                  </a:lnTo>
                  <a:lnTo>
                    <a:pt x="453977" y="908049"/>
                  </a:lnTo>
                  <a:close/>
                </a:path>
              </a:pathLst>
            </a:custGeom>
            <a:solidFill>
              <a:srgbClr val="EAEAEA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" dist="38100" dir="2700000" algn="tl" rotWithShape="0">
                <a:schemeClr val="bg1">
                  <a:lumMod val="8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34963" y="153825"/>
              <a:ext cx="1779587" cy="492443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300" normalizeH="0" baseline="0" noProof="0" dirty="0">
                  <a:ln>
                    <a:noFill/>
                  </a:ln>
                  <a:solidFill>
                    <a:srgbClr val="024C98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汇报提纲</a:t>
              </a: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2220583" y="412296"/>
              <a:ext cx="7790192" cy="0"/>
            </a:xfrm>
            <a:prstGeom prst="line">
              <a:avLst/>
            </a:prstGeom>
            <a:ln w="19050">
              <a:gradFill>
                <a:gsLst>
                  <a:gs pos="100000">
                    <a:schemeClr val="bg1">
                      <a:alpha val="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11293160" y="104295"/>
              <a:ext cx="0" cy="39941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矩形: 圆角 45"/>
          <p:cNvSpPr/>
          <p:nvPr>
            <p:custDataLst>
              <p:tags r:id="rId1"/>
            </p:custDataLst>
          </p:nvPr>
        </p:nvSpPr>
        <p:spPr>
          <a:xfrm>
            <a:off x="2984499" y="2899527"/>
            <a:ext cx="7026275" cy="658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EAEAEA"/>
              </a:gs>
              <a:gs pos="100000">
                <a:srgbClr val="FFFFFF"/>
              </a:gs>
            </a:gsLst>
            <a:lin ang="5400000" scaled="1"/>
            <a:tileRect/>
          </a:gradFill>
          <a:ln w="6350">
            <a:solidFill>
              <a:srgbClr val="EAEAEA"/>
            </a:solidFill>
            <a:miter lim="800000"/>
          </a:ln>
          <a:effectLst>
            <a:outerShdw blurRad="38100" dist="38100" dir="5400000" sx="98000" sy="98000" algn="t" rotWithShape="0">
              <a:prstClr val="black">
                <a:alpha val="18000"/>
              </a:prstClr>
            </a:outerShdw>
          </a:effectLst>
        </p:spPr>
        <p:txBody>
          <a:bodyPr rot="10800000" wrap="non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"/>
            </p:custDataLst>
          </p:nvPr>
        </p:nvSpPr>
        <p:spPr>
          <a:xfrm>
            <a:off x="3305810" y="2982712"/>
            <a:ext cx="732508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二、咖啡是什么</a:t>
            </a:r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2984500" y="3791107"/>
            <a:ext cx="7026274" cy="658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EAEAEA"/>
              </a:gs>
              <a:gs pos="100000">
                <a:srgbClr val="FFFFFF"/>
              </a:gs>
            </a:gsLst>
            <a:lin ang="5400000" scaled="1"/>
            <a:tileRect/>
          </a:gradFill>
          <a:ln w="6350">
            <a:solidFill>
              <a:srgbClr val="EAEAEA"/>
            </a:solidFill>
            <a:miter lim="800000"/>
          </a:ln>
          <a:effectLst>
            <a:outerShdw blurRad="38100" dist="38100" dir="5400000" sx="98000" sy="98000" algn="t" rotWithShape="0">
              <a:prstClr val="black">
                <a:alpha val="18000"/>
              </a:prstClr>
            </a:outerShdw>
          </a:effectLst>
        </p:spPr>
        <p:txBody>
          <a:bodyPr rot="10800000" wrap="non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4"/>
            </p:custDataLst>
          </p:nvPr>
        </p:nvSpPr>
        <p:spPr>
          <a:xfrm>
            <a:off x="3305809" y="3874292"/>
            <a:ext cx="660151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三、咖啡开发</a:t>
            </a:r>
          </a:p>
        </p:txBody>
      </p:sp>
      <p:sp>
        <p:nvSpPr>
          <p:cNvPr id="52" name="矩形: 圆角 51"/>
          <p:cNvSpPr/>
          <p:nvPr>
            <p:custDataLst>
              <p:tags r:id="rId5"/>
            </p:custDataLst>
          </p:nvPr>
        </p:nvSpPr>
        <p:spPr>
          <a:xfrm>
            <a:off x="2984500" y="4682687"/>
            <a:ext cx="7026274" cy="658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EAEAEA"/>
              </a:gs>
              <a:gs pos="100000">
                <a:srgbClr val="FFFFFF"/>
              </a:gs>
            </a:gsLst>
            <a:lin ang="5400000" scaled="1"/>
            <a:tileRect/>
          </a:gradFill>
          <a:ln w="6350">
            <a:solidFill>
              <a:srgbClr val="EAEAEA"/>
            </a:solidFill>
            <a:miter lim="800000"/>
          </a:ln>
          <a:effectLst>
            <a:outerShdw blurRad="38100" dist="38100" dir="5400000" sx="98000" sy="98000" algn="t" rotWithShape="0">
              <a:prstClr val="black">
                <a:alpha val="18000"/>
              </a:prstClr>
            </a:outerShdw>
          </a:effectLst>
        </p:spPr>
        <p:txBody>
          <a:bodyPr rot="10800000" wrap="non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6"/>
            </p:custDataLst>
          </p:nvPr>
        </p:nvSpPr>
        <p:spPr>
          <a:xfrm>
            <a:off x="3305810" y="4765872"/>
            <a:ext cx="660151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四、我爱喝咖啡</a:t>
            </a:r>
          </a:p>
        </p:txBody>
      </p:sp>
      <p:sp>
        <p:nvSpPr>
          <p:cNvPr id="9" name="矩形: 圆角 45"/>
          <p:cNvSpPr/>
          <p:nvPr>
            <p:custDataLst>
              <p:tags r:id="rId7"/>
            </p:custDataLst>
          </p:nvPr>
        </p:nvSpPr>
        <p:spPr>
          <a:xfrm>
            <a:off x="2984500" y="2014972"/>
            <a:ext cx="6922824" cy="6588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EAEAEA"/>
              </a:gs>
              <a:gs pos="100000">
                <a:srgbClr val="FFFFFF"/>
              </a:gs>
            </a:gsLst>
            <a:lin ang="5400000" scaled="1"/>
            <a:tileRect/>
          </a:gradFill>
          <a:ln w="6350">
            <a:solidFill>
              <a:srgbClr val="EAEAEA"/>
            </a:solidFill>
            <a:miter lim="800000"/>
          </a:ln>
          <a:effectLst>
            <a:outerShdw blurRad="38100" dist="38100" dir="5400000" sx="98000" sy="98000" algn="t" rotWithShape="0">
              <a:prstClr val="black">
                <a:alpha val="18000"/>
              </a:prstClr>
            </a:outerShdw>
          </a:effectLst>
        </p:spPr>
        <p:txBody>
          <a:bodyPr rot="10800000" wrap="non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3305810" y="2098157"/>
            <a:ext cx="6601514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一、概述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4488" y="69563"/>
            <a:ext cx="7913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一、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概述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7614815" y="3663101"/>
            <a:ext cx="505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5pPr>
            <a:lvl6pPr marL="25146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6pPr>
            <a:lvl7pPr marL="29718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7pPr>
            <a:lvl8pPr marL="34290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8pPr>
            <a:lvl9pPr marL="3886200" indent="-228600" defTabSz="68453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等线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世界咖啡和生产国家情况对比图（数据自</a:t>
            </a:r>
            <a:r>
              <a:rPr kumimoji="0" lang="en-US" altLang="zh-CN" sz="1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kumimoji="0" lang="zh-CN" altLang="en-US" sz="1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编造）</a:t>
            </a:r>
            <a:endParaRPr kumimoji="0" lang="en-US" altLang="zh-CN" sz="133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680379"/>
            <a:ext cx="4852012" cy="52674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381000" marR="0" lvl="0" indent="-3810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135" b="1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项目背景与需求</a:t>
            </a:r>
            <a:endParaRPr kumimoji="0" lang="en-US" altLang="zh-CN" sz="2135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48052" y="1230056"/>
            <a:ext cx="8110123" cy="1815459"/>
            <a:chOff x="334962" y="865041"/>
            <a:chExt cx="11598255" cy="1563833"/>
          </a:xfrm>
        </p:grpSpPr>
        <p:sp>
          <p:nvSpPr>
            <p:cNvPr id="24" name="矩形: 圆角 23"/>
            <p:cNvSpPr/>
            <p:nvPr/>
          </p:nvSpPr>
          <p:spPr>
            <a:xfrm>
              <a:off x="334962" y="865041"/>
              <a:ext cx="11522075" cy="1563833"/>
            </a:xfrm>
            <a:prstGeom prst="roundRect">
              <a:avLst>
                <a:gd name="adj" fmla="val 3207"/>
              </a:avLst>
            </a:prstGeom>
            <a:solidFill>
              <a:schemeClr val="bg1"/>
            </a:solidFill>
            <a:ln w="6350">
              <a:solidFill>
                <a:srgbClr val="0D4591">
                  <a:alpha val="28000"/>
                </a:srgbClr>
              </a:solidFill>
            </a:ln>
            <a:effectLst>
              <a:outerShdw blurRad="203200" dist="88900" dir="5400000" sx="96000" sy="96000" algn="t" rotWithShape="0">
                <a:srgbClr val="063078">
                  <a:alpha val="1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思源黑体 CN Regular" panose="020B0500000000000000" charset="-122"/>
                <a:cs typeface="+mn-cs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34963" y="879700"/>
              <a:ext cx="11598254" cy="15102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Tx/>
                <a:buFontTx/>
                <a:buAutoNum type="circleNumDbPlain"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咖啡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需求量大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，价格上涨，对外依赖程度高；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Tx/>
                <a:buFontTx/>
                <a:buAutoNum type="circleNumDbPlain"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咖啡豆开发重心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从云南向世界；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472C4"/>
                </a:buClr>
                <a:buSzTx/>
                <a:buFontTx/>
                <a:buAutoNum type="circleNumDbPlain"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中国咖啡豆储量巨大，占全球咖啡量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29%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左右。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DDC3D71-A43A-1671-C119-639B07E802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487" y="781988"/>
            <a:ext cx="3869070" cy="29018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D44550-63C0-A27D-4EC8-D2418901DE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27" y="3129526"/>
            <a:ext cx="3417496" cy="34174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9483ED-6D89-0554-8AEF-BA212A9B64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4" y="3062533"/>
            <a:ext cx="3519310" cy="35193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08AAA04-D0FE-08AC-3FDC-00DAFAD080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46" y="4065705"/>
            <a:ext cx="3723060" cy="2792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4488" y="69563"/>
            <a:ext cx="7913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三、中国与世界咖啡对比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547" y="654338"/>
            <a:ext cx="4852012" cy="52674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marL="381000" marR="0" lvl="0" indent="-3810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咖啡产地</a:t>
            </a:r>
            <a:endParaRPr kumimoji="0" lang="en-US" altLang="zh-CN" sz="2135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28180"/>
              </p:ext>
            </p:extLst>
          </p:nvPr>
        </p:nvGraphicFramePr>
        <p:xfrm>
          <a:off x="168718" y="3741025"/>
          <a:ext cx="11854563" cy="2972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8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512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国家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主要产区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主要咖啡产地特征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1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中国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/>
                        <a:t>普洱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以阿拉比卡为主，产区集中度高；高海拔山地种植，近年精品化趋势明显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保山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德宏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025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巴西</a:t>
                      </a:r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圣保罗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全球最大咖啡生产国之一，阿拉比卡和罗布斯塔均有；规模化、机械化程度高。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越南</a:t>
                      </a:r>
                    </a:p>
                  </a:txBody>
                  <a:tcPr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中央高原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以罗布斯塔为主，产量大；广泛用于速溶咖啡、拼配和意式咖啡基底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68718" y="1300547"/>
            <a:ext cx="11854562" cy="223713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51000">
                <a:srgbClr val="00B0F0">
                  <a:lumMod val="1000"/>
                  <a:lumOff val="99000"/>
                </a:srgbClr>
              </a:gs>
              <a:gs pos="100000">
                <a:srgbClr val="00B0F0">
                  <a:lumMod val="4000"/>
                  <a:lumOff val="96000"/>
                </a:srgbClr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8380" y="1191395"/>
            <a:ext cx="11715237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4C98"/>
              </a:buClr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中国咖啡产地高度集中，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云南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是核心产区，贡献全国绝大部分咖啡产量；国内咖啡以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阿拉比卡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为主，主要分布在普洱、保山、德宏、临沧等地。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24C9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4C98"/>
              </a:buClr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从全球看，咖啡主产区主要分布在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拉丁美洲、东南亚和非洲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，其中巴西、越南、哥伦比亚、印度尼西亚、埃塞俄比亚等国家产量规模较大。对比来看，中国咖啡总量相对较小，但云南具备高海拔、热带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亚热带山地气候等条件，后续可重点关注精品咖啡、品牌化和深加工潜力。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0A66-20FB-8C09-47D9-8D1FCE72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CF7B1F-BFD6-D9AD-E9E3-8D92425F38A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44488" y="69563"/>
            <a:ext cx="7913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C9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三、中国与世界咖啡产区对比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A1E0DA-4FBC-9E29-D0AC-F23B839DDE99}"/>
              </a:ext>
            </a:extLst>
          </p:cNvPr>
          <p:cNvSpPr/>
          <p:nvPr/>
        </p:nvSpPr>
        <p:spPr>
          <a:xfrm>
            <a:off x="344488" y="1464945"/>
            <a:ext cx="11512550" cy="1234293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51000">
                <a:srgbClr val="00B0F0">
                  <a:lumMod val="1000"/>
                  <a:lumOff val="99000"/>
                </a:srgbClr>
              </a:gs>
              <a:gs pos="100000">
                <a:srgbClr val="00B0F0">
                  <a:lumMod val="4000"/>
                  <a:lumOff val="96000"/>
                </a:srgbClr>
              </a:gs>
            </a:gsLst>
            <a:lin ang="16200000" scaled="0"/>
          </a:gradFill>
          <a:ln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F8FFC5-2C55-E9D3-125E-7F19AE1856FB}"/>
              </a:ext>
            </a:extLst>
          </p:cNvPr>
          <p:cNvSpPr/>
          <p:nvPr/>
        </p:nvSpPr>
        <p:spPr>
          <a:xfrm>
            <a:off x="334963" y="826382"/>
            <a:ext cx="11522075" cy="482600"/>
          </a:xfrm>
          <a:prstGeom prst="rect">
            <a:avLst/>
          </a:prstGeom>
          <a:noFill/>
          <a:ln w="19050" cmpd="sng">
            <a:noFill/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68577" tIns="34289" rIns="68577" bIns="34289" numCol="1" spcCol="0" rtlCol="0" fromWordArt="0" anchor="t" anchorCtr="0" forceAA="0" compatLnSpc="0">
            <a:no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spc="38" noProof="0" dirty="0">
              <a:ln>
                <a:noFill/>
              </a:ln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8A68B3-4C2A-C6DB-524D-056593186FBB}"/>
              </a:ext>
            </a:extLst>
          </p:cNvPr>
          <p:cNvSpPr txBox="1"/>
          <p:nvPr/>
        </p:nvSpPr>
        <p:spPr>
          <a:xfrm>
            <a:off x="483813" y="1479933"/>
            <a:ext cx="11255605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9750" algn="just">
              <a:lnSpc>
                <a:spcPct val="150000"/>
              </a:lnSpc>
              <a:buClr>
                <a:srgbClr val="024C98"/>
              </a:buClr>
            </a:pPr>
            <a:r>
              <a:rPr lang="zh-CN" altLang="en-US" sz="1600" b="1" dirty="0">
                <a:solidFill>
                  <a:srgbClr val="024C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根据上述调研，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云南咖啡</a:t>
            </a:r>
            <a:r>
              <a:rPr lang="zh-CN" altLang="en-US" sz="1600" b="1" dirty="0">
                <a:solidFill>
                  <a:srgbClr val="024C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已成为中国咖啡产业的核心产区，但与巴西、哥伦比亚、埃塞俄比亚等成熟产区相比，在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品种选育、精深加工、品牌溢价和国际定价</a:t>
            </a:r>
            <a:r>
              <a:rPr lang="zh-CN" altLang="en-US" sz="1600" b="1" dirty="0">
                <a:solidFill>
                  <a:srgbClr val="024C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能力方面仍存在差距。系统研究云南咖啡的产区环境、品种结构、加工方式与杯测品质之间的关系，有助于明确中国咖啡的差异化竞争优势，并为云南咖啡向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精品化、标准化和品牌化</a:t>
            </a:r>
            <a:r>
              <a:rPr lang="zh-CN" altLang="en-US" sz="1600" b="1" dirty="0">
                <a:solidFill>
                  <a:srgbClr val="024C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发展提供依据。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04CDBC7-CC7B-2A8E-2D22-9B6F108C585B}"/>
              </a:ext>
            </a:extLst>
          </p:cNvPr>
          <p:cNvSpPr/>
          <p:nvPr/>
        </p:nvSpPr>
        <p:spPr>
          <a:xfrm>
            <a:off x="344488" y="887650"/>
            <a:ext cx="11512550" cy="409575"/>
          </a:xfrm>
          <a:prstGeom prst="roundRect">
            <a:avLst/>
          </a:prstGeom>
          <a:solidFill>
            <a:srgbClr val="C00000"/>
          </a:solidFill>
          <a:ln w="19050" cmpd="sng">
            <a:noFill/>
            <a:prstDash val="sysDash"/>
          </a:ln>
        </p:spPr>
        <p:txBody>
          <a:bodyPr vert="horz" wrap="square" lIns="68577" tIns="34289" rIns="68577" bIns="34289" numCol="1" spcCol="0" rtlCol="0" fromWordArt="0" anchor="t" anchorCtr="0" forceAA="0" compatLnSpc="0">
            <a:no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spc="38" noProof="0" dirty="0">
              <a:ln>
                <a:noFill/>
              </a:ln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81D82F-8BB7-6CD5-6A54-E77F9765F9D1}"/>
              </a:ext>
            </a:extLst>
          </p:cNvPr>
          <p:cNvSpPr txBox="1"/>
          <p:nvPr/>
        </p:nvSpPr>
        <p:spPr>
          <a:xfrm>
            <a:off x="483813" y="861605"/>
            <a:ext cx="10040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关键产业问题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：云南咖啡品质形成机制及产业升级路径研究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71E61ED-8279-E724-611A-E7DA7B8628ED}"/>
              </a:ext>
            </a:extLst>
          </p:cNvPr>
          <p:cNvGrpSpPr/>
          <p:nvPr/>
        </p:nvGrpSpPr>
        <p:grpSpPr>
          <a:xfrm>
            <a:off x="4106894" y="5907564"/>
            <a:ext cx="3636057" cy="658257"/>
            <a:chOff x="334963" y="5920367"/>
            <a:chExt cx="5484812" cy="67783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3425A58-84D7-954D-AB7F-FAB889013075}"/>
                </a:ext>
              </a:extLst>
            </p:cNvPr>
            <p:cNvSpPr/>
            <p:nvPr/>
          </p:nvSpPr>
          <p:spPr>
            <a:xfrm>
              <a:off x="334963" y="5945586"/>
              <a:ext cx="5484812" cy="6078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noAutofit/>
            </a:bodyPr>
            <a:lstStyle/>
            <a:p>
              <a:pPr algn="ctr"/>
              <a:endParaRPr kumimoji="1"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7CB6E99-1AD6-41FA-3184-29731CE97D5C}"/>
                </a:ext>
              </a:extLst>
            </p:cNvPr>
            <p:cNvSpPr txBox="1"/>
            <p:nvPr/>
          </p:nvSpPr>
          <p:spPr>
            <a:xfrm>
              <a:off x="665164" y="5920367"/>
              <a:ext cx="4824411" cy="6778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24C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世界典型咖啡产区分布及风味特征图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02DCDDAA-1CDF-2718-EC06-A9E681025502}"/>
              </a:ext>
            </a:extLst>
          </p:cNvPr>
          <p:cNvSpPr/>
          <p:nvPr/>
        </p:nvSpPr>
        <p:spPr>
          <a:xfrm>
            <a:off x="4113350" y="2793449"/>
            <a:ext cx="3623145" cy="37311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77990F2-3DD9-2CFD-C0F2-BF6FCC6145C2}"/>
              </a:ext>
            </a:extLst>
          </p:cNvPr>
          <p:cNvGrpSpPr/>
          <p:nvPr/>
        </p:nvGrpSpPr>
        <p:grpSpPr>
          <a:xfrm>
            <a:off x="7894617" y="5932050"/>
            <a:ext cx="3968877" cy="590261"/>
            <a:chOff x="-167079" y="5945586"/>
            <a:chExt cx="5986855" cy="60781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20EC8F8-94B2-47BE-6E7F-CDCEDB855D66}"/>
                </a:ext>
              </a:extLst>
            </p:cNvPr>
            <p:cNvSpPr/>
            <p:nvPr/>
          </p:nvSpPr>
          <p:spPr>
            <a:xfrm>
              <a:off x="-167079" y="5945586"/>
              <a:ext cx="5986855" cy="6078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noAutofit/>
            </a:bodyPr>
            <a:lstStyle/>
            <a:p>
              <a:pPr algn="ctr"/>
              <a:endParaRPr kumimoji="1"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C7BB0F5-6F5B-F063-1C4B-16C140CD230A}"/>
                </a:ext>
              </a:extLst>
            </p:cNvPr>
            <p:cNvSpPr txBox="1"/>
            <p:nvPr/>
          </p:nvSpPr>
          <p:spPr>
            <a:xfrm>
              <a:off x="-151948" y="6038741"/>
              <a:ext cx="5971722" cy="3735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24C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中国云南咖啡品质形成与产业升级路径图</a:t>
              </a: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762A1F4-15ED-43FE-C693-54EA04AC71E2}"/>
              </a:ext>
            </a:extLst>
          </p:cNvPr>
          <p:cNvSpPr/>
          <p:nvPr/>
        </p:nvSpPr>
        <p:spPr>
          <a:xfrm>
            <a:off x="7890916" y="2793449"/>
            <a:ext cx="3968876" cy="37311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45FBECF-24BF-116D-FED6-DB0824E7E110}"/>
              </a:ext>
            </a:extLst>
          </p:cNvPr>
          <p:cNvGrpSpPr/>
          <p:nvPr/>
        </p:nvGrpSpPr>
        <p:grpSpPr>
          <a:xfrm>
            <a:off x="338538" y="5885504"/>
            <a:ext cx="3636057" cy="636813"/>
            <a:chOff x="334963" y="5897649"/>
            <a:chExt cx="5484812" cy="65575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06E6482-8CE4-2A17-7DFC-9382AE82CFBF}"/>
                </a:ext>
              </a:extLst>
            </p:cNvPr>
            <p:cNvSpPr/>
            <p:nvPr/>
          </p:nvSpPr>
          <p:spPr>
            <a:xfrm>
              <a:off x="334963" y="5897649"/>
              <a:ext cx="5484812" cy="6557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noAutofit/>
            </a:bodyPr>
            <a:lstStyle/>
            <a:p>
              <a:pPr algn="ctr"/>
              <a:endParaRPr kumimoji="1"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9664EFB-3247-90C8-8C3A-EF558648CB2C}"/>
                </a:ext>
              </a:extLst>
            </p:cNvPr>
            <p:cNvSpPr txBox="1"/>
            <p:nvPr/>
          </p:nvSpPr>
          <p:spPr>
            <a:xfrm>
              <a:off x="455101" y="6011838"/>
              <a:ext cx="5133453" cy="3735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24C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中国云南咖啡核心产区分布图</a:t>
              </a: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1F943E29-4C2D-82C8-D10B-5386C0BA92F9}"/>
              </a:ext>
            </a:extLst>
          </p:cNvPr>
          <p:cNvSpPr/>
          <p:nvPr/>
        </p:nvSpPr>
        <p:spPr>
          <a:xfrm>
            <a:off x="344994" y="2793449"/>
            <a:ext cx="3623145" cy="37311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67F73-E0C1-39E7-9D09-CD915EF4A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2914057"/>
            <a:ext cx="3675502" cy="27566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2EEFF8-2729-799E-D8A5-BD4DF518C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350" y="2954493"/>
            <a:ext cx="3557364" cy="266802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EDE61E7D-45FD-AA72-2ADA-8A6C213AE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074" y="2865006"/>
            <a:ext cx="3963784" cy="297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7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mpd="sng">
          <a:solidFill>
            <a:schemeClr val="accent1">
              <a:shade val="50000"/>
            </a:schemeClr>
          </a:solidFill>
          <a:prstDash val="sysDash"/>
        </a:ln>
      </a:spPr>
      <a:bodyPr vert="horz" wrap="square" lIns="68577" tIns="34289" rIns="68577" bIns="34289" numCol="1" spcCol="0" rtlCol="0" fromWordArt="0" anchor="t" anchorCtr="0" forceAA="0" compatLnSpc="0">
        <a:noAutofit/>
        <a:scene3d>
          <a:camera prst="orthographicFront"/>
          <a:lightRig rig="threePt" dir="t"/>
        </a:scene3d>
      </a:bodyPr>
      <a:lstStyle>
        <a:defPPr algn="ctr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defRPr sz="1400" spc="38" noProof="0" dirty="0">
            <a:ln>
              <a:noFill/>
            </a:ln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mpd="sng">
          <a:solidFill>
            <a:schemeClr val="accent1">
              <a:shade val="50000"/>
            </a:schemeClr>
          </a:solidFill>
          <a:prstDash val="sysDash"/>
        </a:ln>
      </a:spPr>
      <a:bodyPr vert="horz" wrap="square" lIns="68577" tIns="34289" rIns="68577" bIns="34289" numCol="1" spcCol="0" rtlCol="0" fromWordArt="0" anchor="t" anchorCtr="0" forceAA="0" compatLnSpc="0">
        <a:noAutofit/>
        <a:scene3d>
          <a:camera prst="orthographicFront"/>
          <a:lightRig rig="threePt" dir="t"/>
        </a:scene3d>
      </a:bodyPr>
      <a:lstStyle>
        <a:defPPr algn="ctr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defRPr sz="1400" spc="38" noProof="0" dirty="0">
            <a:ln>
              <a:noFill/>
            </a:ln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439</Words>
  <Application>Microsoft Office PowerPoint</Application>
  <PresentationFormat>宽屏</PresentationFormat>
  <Paragraphs>41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微软雅黑</vt:lpstr>
      <vt:lpstr>Arial</vt:lpstr>
      <vt:lpstr>Calibri</vt:lpstr>
      <vt:lpstr>Roboto</vt:lpstr>
      <vt:lpstr>Times New Roman</vt:lpstr>
      <vt:lpstr>Verdana</vt:lpstr>
      <vt:lpstr>Wingdings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李梅 同学</dc:creator>
  <cp:lastModifiedBy>Dqm</cp:lastModifiedBy>
  <cp:revision>3</cp:revision>
  <dcterms:created xsi:type="dcterms:W3CDTF">2026-03-20T07:43:46Z</dcterms:created>
  <dcterms:modified xsi:type="dcterms:W3CDTF">2026-06-02T17:34:43Z</dcterms:modified>
</cp:coreProperties>
</file>